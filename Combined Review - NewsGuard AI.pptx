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0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243840" cy="914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" cy="9144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0" y="4323810"/>
            <a:ext cx="1744650" cy="778586"/>
            <a:chOff x="0" y="0"/>
            <a:chExt cx="2326200" cy="10381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23084" cy="1038098"/>
            </a:xfrm>
            <a:custGeom>
              <a:avLst/>
              <a:gdLst/>
              <a:ahLst/>
              <a:cxnLst/>
              <a:rect l="l" t="t" r="r" b="b"/>
              <a:pathLst>
                <a:path w="3484626" h="1557147">
                  <a:moveTo>
                    <a:pt x="2692019" y="1557147"/>
                  </a:moveTo>
                  <a:cubicBezTo>
                    <a:pt x="2720213" y="1557147"/>
                    <a:pt x="2738882" y="1547749"/>
                    <a:pt x="2748280" y="1538351"/>
                  </a:cubicBezTo>
                  <a:cubicBezTo>
                    <a:pt x="2748280" y="1528953"/>
                    <a:pt x="2757678" y="1528953"/>
                    <a:pt x="2757678" y="1528953"/>
                  </a:cubicBezTo>
                  <a:cubicBezTo>
                    <a:pt x="3470529" y="815975"/>
                    <a:pt x="3470529" y="815975"/>
                    <a:pt x="3470529" y="815975"/>
                  </a:cubicBezTo>
                  <a:cubicBezTo>
                    <a:pt x="3489325" y="797179"/>
                    <a:pt x="3489325" y="759714"/>
                    <a:pt x="3470529" y="731520"/>
                  </a:cubicBezTo>
                  <a:cubicBezTo>
                    <a:pt x="2757678" y="27940"/>
                    <a:pt x="2757678" y="27940"/>
                    <a:pt x="2757678" y="27940"/>
                  </a:cubicBezTo>
                  <a:cubicBezTo>
                    <a:pt x="2757678" y="18542"/>
                    <a:pt x="2748280" y="18542"/>
                    <a:pt x="2748280" y="18542"/>
                  </a:cubicBezTo>
                  <a:cubicBezTo>
                    <a:pt x="2738882" y="9398"/>
                    <a:pt x="2720213" y="0"/>
                    <a:pt x="26920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57147"/>
                    <a:pt x="0" y="1557147"/>
                    <a:pt x="0" y="1557147"/>
                  </a:cubicBezTo>
                  <a:lnTo>
                    <a:pt x="2692019" y="1557147"/>
                  </a:lnTo>
                  <a:close/>
                </a:path>
              </a:pathLst>
            </a:custGeom>
            <a:solidFill>
              <a:srgbClr val="35353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963595" y="638534"/>
            <a:ext cx="10029507" cy="1442085"/>
            <a:chOff x="0" y="-12700"/>
            <a:chExt cx="13372677" cy="19227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372677" cy="1910080"/>
            </a:xfrm>
            <a:custGeom>
              <a:avLst/>
              <a:gdLst/>
              <a:ahLst/>
              <a:cxnLst/>
              <a:rect l="l" t="t" r="r" b="b"/>
              <a:pathLst>
                <a:path w="20059014" h="2865120">
                  <a:moveTo>
                    <a:pt x="0" y="0"/>
                  </a:moveTo>
                  <a:lnTo>
                    <a:pt x="20059014" y="0"/>
                  </a:lnTo>
                  <a:lnTo>
                    <a:pt x="20059014" y="2865120"/>
                  </a:lnTo>
                  <a:lnTo>
                    <a:pt x="0" y="2865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6416" b="-864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700"/>
              <a:ext cx="13372677" cy="192278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178DB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</a:t>
              </a:r>
              <a:r>
                <a:rPr lang="en-US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EASWARI ENGINEERING COLLEGE</a:t>
              </a:r>
            </a:p>
            <a:p>
              <a:pPr algn="l">
                <a:lnSpc>
                  <a:spcPts val="3439"/>
                </a:lnSpc>
              </a:pPr>
              <a:endPara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24393" y="2183130"/>
            <a:ext cx="8793480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News Credibility and Misinformation Detection System</a:t>
            </a:r>
          </a:p>
          <a:p>
            <a:pPr algn="l">
              <a:lnSpc>
                <a:spcPts val="2400"/>
              </a:lnSpc>
            </a:pP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                                   Presented By</a:t>
            </a:r>
          </a:p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Ms. D S K Harshitha                                       </a:t>
            </a:r>
            <a:r>
              <a:rPr lang="en-US" sz="18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Sanjay G (310624243159)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Technical Trainer, AIADS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839214" y="712457"/>
            <a:ext cx="1499997" cy="1303763"/>
            <a:chOff x="0" y="0"/>
            <a:chExt cx="1999996" cy="17383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99996" cy="1738376"/>
            </a:xfrm>
            <a:custGeom>
              <a:avLst/>
              <a:gdLst/>
              <a:ahLst/>
              <a:cxnLst/>
              <a:rect l="l" t="t" r="r" b="b"/>
              <a:pathLst>
                <a:path w="2999994" h="2607564">
                  <a:moveTo>
                    <a:pt x="0" y="0"/>
                  </a:moveTo>
                  <a:lnTo>
                    <a:pt x="2999994" y="0"/>
                  </a:lnTo>
                  <a:lnTo>
                    <a:pt x="2999994" y="2607564"/>
                  </a:lnTo>
                  <a:lnTo>
                    <a:pt x="0" y="260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" r="-18"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07139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AGENDA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Scope of This Review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Requirements (Functional &amp; NFR)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Detailed System Architecture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 Case &amp; ER Diagrams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Module Description &amp; Tech Stack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UI Design, Frontend &amp; Backend Build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Database &amp; API Integration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Progress (94%), Screenshots &amp; Challenges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Agenda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REQUIREMENTS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Functional &amp; Non-Functional Requirements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Functional Requirements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Register and sign in with email OTP or Google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Analyze news by article URL or pasted text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Weighted credibility score with a verdict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Claim extraction and evidence checks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Report page, PDF export, save and history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Admin: users, sources, flagged articles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Real-time, email and browser alerts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Browser-extension hand-off (scaffold)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Non-Functional Requirements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Security: JWT, hashed passwords and OTPs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SSRF guard and input sanitization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Rate limits on API and analysis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Cache: Redis with in-memory fallback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Responsive UI with mobile navigation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AI outage falls back to heuristics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Modular MERN code, 9 unit tests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Requirements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System Architecture (Detailed)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CLIENT TIER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React 18 + Vite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Router, Context, Axios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Socket.IO client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Bootstrap + custom CSS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↔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APPLICATION TIER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Node.js + Express.js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JWT, Helmet, rate limits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Scoring &amp; evidence engine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Socket.IO, PDF, email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↔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TIER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MongoDB + Mongoose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 collections, 16 indexes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Redis cache (optional)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with in-memory fallback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HTTPS requests flow from React through Express REST endpoints to MongoDB; Socket.IO pushes live analysis progress back to the browser.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External services are optional: Gemini API and Serper search feed the evidence step, with an automatic heuristic fallback. The app itself calculates the final score.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03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USE CASE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Use Case Diagram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Actors &amp; Use Cases</a:t>
            </a:r>
            <a:endParaRPr lang="en-US" sz="20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Guest: register, sign in, reset password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User: analyze a URL or pasted text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User: view report, PDF, save, history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Admin: users, sources, flagged items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Gemini, Serper and SMTP are external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Use Case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" name="Picture 13" descr="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94" y="1792224"/>
            <a:ext cx="5875411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04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ER DIAGRAM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ER Diagram / Database Design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Design Notes</a:t>
            </a:r>
            <a:endParaRPr lang="en-US" sz="20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9 MongoDB collections, 16 indexes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1:N: User to Analysis, Analysis to Claim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1:1: Analysis to FlaggedArticle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Embedded: score factors, statements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Otp records expire by TTL index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ER Diagram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" name="Picture 13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94" y="1792224"/>
            <a:ext cx="5875411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05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931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Module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Functions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Authentication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Email + OTP or Google sign-in, JWT sessions, role guard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Register, Login, Verify OTP, Reset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Analysis Engine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URL or pasted text, claim checks, weighted score with caps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Extract, Verify, Score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Reports &amp; History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Credibility report, PDF export, saved reports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View, Download, Save, Re-analyze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1467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 Registry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Publisher reliability records used in scoring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Browse, Classify, Auto-register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67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 Module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Manage users, sources and flagged articles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Activate, Review, Analytics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95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Notification Module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Real-time, email and browser alerts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Socket toasts, Email + PDF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794586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06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TECH STACK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9A5B"/>
                </a:solidFill>
                <a:latin typeface="Times New Roman"/>
                <a:ea typeface="Times New Roman"/>
                <a:cs typeface="Times New Roman"/>
              </a:rPr>
              <a:t>MongoDB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Mongoose 8 ODM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Express.js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Express 4 REST API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/>
                <a:ea typeface="Times New Roman"/>
                <a:cs typeface="Times New Roman"/>
              </a:rPr>
              <a:t>React.js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React 18 + Vite 5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9A5B"/>
                </a:solidFill>
                <a:latin typeface="Times New Roman"/>
                <a:ea typeface="Times New Roman"/>
                <a:cs typeface="Times New Roman"/>
              </a:rPr>
              <a:t>Node.js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Node.js runtime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Supporting Tools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Backend: Mongoose, JWT, bcryptjs, Helmet, express-rate-limit, Multer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Real-time and cache: Socket.IO, ioredis (Redis) with memory fallback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AI and evidence: Gemini API (optional), Serper search, Cheerio extraction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Output: PDFKit reports, Nodemailer email, Chart.js, Framer Motion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Tooling: Bootstrap 5, Axios, node:test, Git, npm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Tech Stack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07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UI DESIGN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UI Design / Wireframes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Design Highlights</a:t>
            </a:r>
            <a:endParaRPr lang="en-US" sz="20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Final screens, built in React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Light and dark themes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Bottom navigation below 992 px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CSS design tokens, no Figma files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Landing, analyze, report, mobile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UI Design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" name="Picture 13" descr="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47" y="1792224"/>
            <a:ext cx="5874105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08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FRONTEND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Frontend Development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702129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React 18 + Vite 5 with functional components and hooks (64 JSX files)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React Router: 25 routes across public, auth, user and admin areas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Context API for auth and theme; Axios client with JWT interceptor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Analyze page: link or paste mode, live progress over Socket.IO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Report page: score ring, factor bars, caps, confidence, claims, PDF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Bootstrap 5 with custom design tokens, light and dark mode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Chart.js dashboards; admin and report pages lazy-loaded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Done: Landing, Login, Register, OTP, Reset, Dashboard, Analyze, Report, History, Saved, Sources, Notifications, Settings, 8 admin pages.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Frontend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09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BACKEND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Backend Development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689532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Node.js + Express 4: routes, controllers, services, Mongoose models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50 REST endpoints: auth, user, analysis, sources, admin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JWT middleware, role guard, OTP sign-in, login lockout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Helmet, CORS allow-list, rate limits, SSRF guard, input sanitization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Scoring engine: 6 weighted factors, score caps, confidence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Gemini (optional) bounded by a heuristic baseline; Serper search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Redis or in-memory cache, Socket.IO, PDFKit, 9 unit tests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Central errorHandler, utils/validate checks, dotenv config (.env is git-ignored).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Backend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DATABASE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Database Integration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70866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MongoDB with Mongoose 8 (local or Atlas URI through MONGO_URI)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9 collections: User, Article, Analysis, Claim, Source, Report, FlaggedArticle, Notification, Otp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References: Analysis to User and Article, Claim to Analysis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Embedded: score factors, suspicious statements, claim sources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16 declared indexes, including a text index and a TTL index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Admin account seeded from .env; no demo data in the repository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Optional Redis cache with in-memory fallback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Collections: users, articles, analyses, claims, sources, reports, flaggedarticles, notifications, otps.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Database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API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API Development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572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Endpoint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/api/auth/register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Create account, send OTP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/api/auth/login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password, email OTP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/api/auth/verify-otp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Verify OTP, issue JWT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1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/api/analysis/url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Analyze an article link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8574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/api/analysis/content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Analyze pasted text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645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/api/analysis/history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Search, filter, sort history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2989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/api/analysis/:id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Full credibility report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918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/api/analysis/:id/report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Download PDF report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6090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/api/admin/analytics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Platform analytics (admin)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948568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API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STATUS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Module-wise Implementation Status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User Authentication (10/10)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100%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Frontend UI (Core Screens) (8/9)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0" y="2505456"/>
            <a:ext cx="4882896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89%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Backend APIs (9/10)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0" y="3127248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90%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Database Integration (9/10)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90%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Admin Module (8/8)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100%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Notifications (5/7)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572000" y="5010912"/>
            <a:ext cx="4516016" cy="256031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70%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Status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13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SCREENSHOTS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Screenshots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i="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Login page</a:t>
            </a:r>
            <a:endParaRPr lang="en-US" sz="1800" i="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i="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User dashboard</a:t>
            </a:r>
            <a:endParaRPr lang="en-US" sz="1800" i="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i="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Credibility report</a:t>
            </a:r>
            <a:endParaRPr lang="en-US" sz="1800" i="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i="0" dirty="0">
                <a:solidFill>
                  <a:srgbClr val="3E5C58"/>
                </a:solidFill>
                <a:latin typeface="Times New Roman"/>
                <a:ea typeface="Times New Roman"/>
                <a:cs typeface="Times New Roman"/>
              </a:rPr>
              <a:t>Admin dashboard</a:t>
            </a:r>
            <a:endParaRPr lang="en-US" sz="1800" i="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Screenshots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" name="Picture 16" descr="s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02" y="1792224"/>
            <a:ext cx="4694675" cy="1353312"/>
          </a:xfrm>
          <a:prstGeom prst="rect">
            <a:avLst/>
          </a:prstGeom>
        </p:spPr>
      </p:pic>
      <p:pic>
        <p:nvPicPr>
          <p:cNvPr id="18" name="Picture 17" descr="s_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935" y="1792224"/>
            <a:ext cx="4698290" cy="1353312"/>
          </a:xfrm>
          <a:prstGeom prst="rect">
            <a:avLst/>
          </a:prstGeom>
        </p:spPr>
      </p:pic>
      <p:pic>
        <p:nvPicPr>
          <p:cNvPr id="19" name="Picture 18" descr="s_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170" y="3849624"/>
            <a:ext cx="4694539" cy="1353312"/>
          </a:xfrm>
          <a:prstGeom prst="rect">
            <a:avLst/>
          </a:prstGeom>
        </p:spPr>
      </p:pic>
      <p:pic>
        <p:nvPicPr>
          <p:cNvPr id="20" name="Picture 19" descr="s_adm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935" y="3849624"/>
            <a:ext cx="4698290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CHALLENGES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Challenges Faced &amp; Solutions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56616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Challenge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Solution Adopted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Pasted text scored as an unknown source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 and transparency excluded; weights renormalised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 scores could swing the final result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 bounded around a measured baseline; app applies weights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Server-side fetch could reach internal hosts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Public-IP check on DNS and on every redirect hop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3124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 or search outages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Automatic heuristic fallback; reports still scored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5791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Repeated fetches and AI calls were slow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Redis or memory cache: 484 ms to 45 ms on repeat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454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Not-scored flag was lost on save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Added field to schema; verified in report UI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7354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Challenges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15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NEXT STEPS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Remaining Work &amp; Plan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73152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Validate the Gemini and Serper evidence path with live API keys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Run a live Redis server and confirm cache behaviour under load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Add API integration tests beyond the 9 unit tests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Verify SMTP delivery and Google sign-in with real credentials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Accessibility and cross-browser audit; package the extension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Deploy (frontend host + MongoDB Atlas); final documentation and demo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Next Steps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</a:t>
            </a:r>
            <a:endParaRPr lang="en-US" sz="1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lang="en-US" sz="28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5661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MongoDB, Express.js, React, Node.js: official documentation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Mongoose, Socket.IO, Vite, Bootstrap: official documentation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Google Gemini API and Serper search API documentation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898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K. Shu et al., Fake News Detection on Social Media: A Data Mining Perspective, ACM SIGKDD, 2017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5236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W. Y. Wang, "Liar, Liar Pants on Fire": A New Benchmark Dataset for Fake News Detection, ACL, 2017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050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K. Shu and H. Liu, Detecting Fake News on Social Media, 2019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32083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7A8F8C"/>
                </a:solidFill>
                <a:latin typeface="Times New Roman"/>
                <a:ea typeface="Times New Roman"/>
                <a:cs typeface="Times New Roman"/>
              </a:rPr>
              <a:t>Review 1  |  NewsGuard AI (MERN Stack)</a:t>
            </a: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1641</Words>
  <Application>Microsoft Office PowerPoint</Application>
  <PresentationFormat>Widescreen</PresentationFormat>
  <Paragraphs>308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jaagath ragavendraa</cp:lastModifiedBy>
  <cp:revision>4</cp:revision>
  <dcterms:created xsi:type="dcterms:W3CDTF">2026-09-22T17:17:28Z</dcterms:created>
  <dcterms:modified xsi:type="dcterms:W3CDTF">2026-09-30T04:01:28Z</dcterms:modified>
</cp:coreProperties>
</file>