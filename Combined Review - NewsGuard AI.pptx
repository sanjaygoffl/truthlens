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5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5" d="100"/>
          <a:sy n="105" d="100"/>
        </p:scale>
        <p:origin x="79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764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AGENDA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1097280" y="7132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Scope of This Review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98144" y="1700059"/>
            <a:ext cx="5029200" cy="3713907"/>
          </a:xfrm>
          <a:prstGeom prst="roundRect">
            <a:avLst>
              <a:gd name="adj" fmla="val 1778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371600" y="2130643"/>
            <a:ext cx="4572000" cy="2814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Requirements (Functional &amp; NFR)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Detailed System Architecture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Use Case &amp; ER Diagrams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Module Description &amp; Tech Stack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UI Design, Frontend &amp; Backend Build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Database &amp; API Integration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Progress (94%), Screenshots &amp; Challenges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Agenda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REQUIREMENTS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Functional &amp; Non-Functional Requirements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7373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37160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Functional Requirements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371600" y="24231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Register and sign in with email OTP or Google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Analyze news by article URL or pasted text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Weighted credibility score with a verdict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Claim extraction and evidence checks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Report page, PDF export, save and history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Admin: users, sources, flagged articles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Real-time, email and browser alerts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Browser-extension hand-off (scaffold)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0" y="173736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67512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Non-Functional Requirements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675120" y="24231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Security: JWT, hashed passwords and OTPs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SSRF guard and input sanitization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Rate limits on API and analysis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Cache: Redis with in-memory fallback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Responsive UI with mobile navigation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AI outage falls back to heuristics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Modular MERN code, 9 unit tests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Requirements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ARCHITECTURE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System Architecture (Detailed)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237744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280160" y="2606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CLIENT TIER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280160" y="30632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React 18 + Vite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Router, Context, Axios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Socket.IO client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Bootstrap + custom CSS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11480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↔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617720" y="237744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800600" y="2606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APPLICATION TIER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4800600" y="30632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Node.js + Express.js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JWT, Helmet, rate limits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Scoring &amp; evidence engine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Socket.IO, PDF, email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7635240" y="30175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↔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138160" y="237744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B2A2E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21040" y="2606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DATA TIER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321040" y="306324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MongoDB + Mongoose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9 collections, 16 indexes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Redis cache (optional)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with in-memory fallback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097280" y="45720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HTTPS requests flow from React through Express REST endpoints to MongoDB; Socket.IO pushes live analysis progress back to the browser.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97280" y="5257800"/>
            <a:ext cx="9966960" cy="777240"/>
          </a:xfrm>
          <a:prstGeom prst="roundRect">
            <a:avLst>
              <a:gd name="adj" fmla="val 9412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1325880" y="52578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External services are optional: Gemini API and Serper search feed the evidence step, with an automatic heuristic fallback. The app itself calculates the final score.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Architecture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USE CASE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Use Case Diagram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73736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F4FAF9"/>
          </a:solidFill>
          <a:ln w="19050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06640" y="17373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63524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Actors &amp; Use Cases</a:t>
            </a:r>
            <a:endParaRPr lang="en-US" sz="20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635240" y="2331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Guest: register, sign in, reset password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User: analyze a URL or pasted text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User: view report, PDF, save, history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Admin: users, sources, flagged items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Gemini, Serper and SMTP are external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Use Case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4" name="Picture 13" descr="usec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094" y="1792224"/>
            <a:ext cx="5875411" cy="4005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ER DIAGRAM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ER Diagram / Database Design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73736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F4FAF9"/>
          </a:solidFill>
          <a:ln w="19050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06640" y="17373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63524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Design Notes</a:t>
            </a:r>
            <a:endParaRPr lang="en-US" sz="20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635240" y="2331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9 MongoDB collections, 16 indexes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1:N: User to Analysis, Analysis to Claim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1:1: Analysis to FlaggedArticle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Embedded: score factors, statements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Otp records expire by TTL index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ER Diagram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4" name="Picture 13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094" y="1792224"/>
            <a:ext cx="5875411" cy="4005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MODULES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Module Description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691640"/>
          <a:ext cx="9966960" cy="3200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Module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Key Functions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Authentication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Email + OTP or Google sign-in, JWT sessions, role guard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Register, Login, Verify OTP, Reset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Analysis Engine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URL or pasted text, claim checks, weighted score with caps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Extract, Verify, Score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Reports &amp; History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Credibility report, PDF export, saved reports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View, Download, Save, Re-analyze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 Registry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Publisher reliability records used in scoring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Browse, Classify, Auto-register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Admin Module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Manage users, sources and flagged articles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Activate, Review, Analytics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Notification Module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Real-time, email and browser alerts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Socket toasts, Email + PDF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Modules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06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TECH STACK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Technology Stack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92024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F4FAF9"/>
          </a:solidFill>
          <a:ln w="19050">
            <a:solidFill>
              <a:srgbClr val="4C9A5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9728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C9A5B"/>
                </a:solidFill>
                <a:latin typeface="Times New Roman"/>
                <a:ea typeface="Times New Roman"/>
                <a:cs typeface="Times New Roman"/>
              </a:rPr>
              <a:t>MongoDB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09728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Mongoose 8 ODM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0" y="192024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F4FAF9"/>
          </a:solidFill>
          <a:ln w="19050">
            <a:solidFill>
              <a:srgbClr val="1B2A2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65760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Express.js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65760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Express 4 REST API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7920" y="192024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F4FAF9"/>
          </a:solidFill>
          <a:ln w="1905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21792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7293"/>
                </a:solidFill>
                <a:latin typeface="Times New Roman"/>
                <a:ea typeface="Times New Roman"/>
                <a:cs typeface="Times New Roman"/>
              </a:rPr>
              <a:t>React.js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21792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React 18 + Vite 5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78240" y="1920240"/>
            <a:ext cx="2331720" cy="1737360"/>
          </a:xfrm>
          <a:prstGeom prst="roundRect">
            <a:avLst>
              <a:gd name="adj" fmla="val 5263"/>
            </a:avLst>
          </a:prstGeom>
          <a:solidFill>
            <a:srgbClr val="F4FAF9"/>
          </a:solidFill>
          <a:ln w="19050">
            <a:solidFill>
              <a:srgbClr val="4C9A5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778240" y="23774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C9A5B"/>
                </a:solidFill>
                <a:latin typeface="Times New Roman"/>
                <a:ea typeface="Times New Roman"/>
                <a:cs typeface="Times New Roman"/>
              </a:rPr>
              <a:t>Node.js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8778240" y="28803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Node.js runtime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972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Supporting Tools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097280" y="44348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Backend: Mongoose, JWT, bcryptjs, Helmet, express-rate-limit, Multer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Real-time and cache: Socket.IO, ioredis (Redis) with memory fallback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AI and evidence: Gemini API (optional), Serper search, Cheerio extraction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Output: PDFKit reports, Nodemailer email, Chart.js, Framer Motion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Tooling: Bootstrap 5, Axios, node:test, Git, npm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Tech Stack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07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UI DESIGN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UI Design / Wireframes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737360"/>
            <a:ext cx="6035040" cy="4114800"/>
          </a:xfrm>
          <a:prstGeom prst="roundRect">
            <a:avLst>
              <a:gd name="adj" fmla="val 1778"/>
            </a:avLst>
          </a:prstGeom>
          <a:solidFill>
            <a:srgbClr val="F4FAF9"/>
          </a:solidFill>
          <a:ln w="19050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06640" y="173736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63524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Design Highlights</a:t>
            </a:r>
            <a:endParaRPr lang="en-US" sz="20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635240" y="2331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Final screens, built in React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Light and dark themes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Bottom navigation below 992 px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CSS design tokens, no Figma files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Landing, analyze, report, mobile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UI Design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4" name="Picture 13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47" y="1792224"/>
            <a:ext cx="5874105" cy="4005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08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FRONTEND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Frontend Development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1691640"/>
            <a:ext cx="9875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React 18 + Vite 5 with functional components and hooks (64 JSX files)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React Router: 25 routes across public, auth, user and admin areas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Context API for auth and theme; Axios client with JWT interceptor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Analyze page: link or paste mode, live progress over Socket.IO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Report page: score ring, factor bars, caps, confidence, claims, PDF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Bootstrap 5 with custom design tokens, light and dark mode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Chart.js dashboards; admin and report pages lazy-loaded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97280" y="5623560"/>
            <a:ext cx="9966960" cy="594360"/>
          </a:xfrm>
          <a:prstGeom prst="roundRect">
            <a:avLst>
              <a:gd name="adj" fmla="val 12308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25880" y="562356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Done: Landing, Login, Register, OTP, Reset, Dashboard, Analyze, Report, History, Saved, Sources, Notifications, Settings, 8 admin pages.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Frontend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09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BACKEND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Backend Development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1691640"/>
            <a:ext cx="9875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Node.js + Express 4: routes, controllers, services, Mongoose models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50 REST endpoints: auth, user, analysis, sources, admin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JWT middleware, role guard, OTP sign-in, login lockout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Helmet, CORS allow-list, rate limits, SSRF guard, input sanitization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Scoring engine: 6 weighted factors, score caps, confidence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Gemini (optional) bounded by a heuristic baseline; Serper search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Redis or in-memory cache, Socket.IO, PDFKit, 9 unit tests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97280" y="5623560"/>
            <a:ext cx="9966960" cy="594360"/>
          </a:xfrm>
          <a:prstGeom prst="roundRect">
            <a:avLst>
              <a:gd name="adj" fmla="val 12308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25880" y="562356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Central errorHandler, utils/validate checks, dotenv config (.env is git-ignored).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Backend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DATABASE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Database Integration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1691640"/>
            <a:ext cx="9875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MongoDB with Mongoose 8 (local or Atlas URI through MONGO_URI)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9 collections: User, Article, Analysis, Claim, Source, Report, FlaggedArticle, Notification, Otp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References: Analysis to User and Article, Claim to Analysis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Embedded: score factors, suspicious statements, claim sources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16 declared indexes, including a text index and a TTL index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Admin account seeded from .env; no demo data in the repository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Optional Redis cache with in-memory fallback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97280" y="5623560"/>
            <a:ext cx="9966960" cy="594360"/>
          </a:xfrm>
          <a:prstGeom prst="roundRect">
            <a:avLst>
              <a:gd name="adj" fmla="val 12308"/>
            </a:avLst>
          </a:prstGeom>
          <a:solidFill>
            <a:srgbClr val="F4FAF9"/>
          </a:solidFill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325880" y="5623560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Collections: users, articles, analyses, claims, sources, reports, flaggedarticles, notifications, otps.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Database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API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API Development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691640"/>
          <a:ext cx="9966960" cy="45720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Endpoint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/api/auth/register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Create account, send OTP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/api/auth/login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password, email OTP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/api/auth/verify-otp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Verify OTP, issue JWT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/api/analysis/url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Analyze an article link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/api/analysis/content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Analyze pasted text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/api/analysis/history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Search, filter, sort history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/api/analysis/:id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Full credibility report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/api/analysis/:id/report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Download PDF report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/api/admin/analytics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Platform analytics (admin)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API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STATUS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Module-wise Implementation Status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18288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User Authentication (10/10)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0" y="1883664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0" y="1883664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149840" y="18288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100%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97280" y="245059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Frontend UI (Core Screens) (8/9)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0" y="2505456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0" y="2505456"/>
            <a:ext cx="4882896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149840" y="245059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89%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097280" y="30723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Backend APIs (9/10)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0" y="3127248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0" y="3127248"/>
            <a:ext cx="4937760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149840" y="307238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90%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97280" y="3694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Database Integration (9/10)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0" y="3749040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0" y="3749040"/>
            <a:ext cx="4937760" cy="274320"/>
          </a:xfrm>
          <a:prstGeom prst="roundRect">
            <a:avLst>
              <a:gd name="adj" fmla="val 20000"/>
            </a:avLst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0149840" y="36941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90%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1097280" y="431596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Admin Module (8/8)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0" y="4370832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4572000" y="4370832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10149840" y="43159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100%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109728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Notifications (7/7)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572000" y="4992624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F4FAF9"/>
          </a:solidFill>
          <a:ln w="9525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72000" y="4992624"/>
            <a:ext cx="5486400" cy="274320"/>
          </a:xfrm>
          <a:prstGeom prst="roundRect">
            <a:avLst>
              <a:gd name="adj" fmla="val 20000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149840" y="49377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8090"/>
                </a:solidFill>
                <a:latin typeface="Times New Roman"/>
                <a:ea typeface="Times New Roman"/>
                <a:cs typeface="Times New Roman"/>
              </a:rPr>
              <a:t>100%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Status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13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SCREENSHOTS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Screenshots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097280" y="17373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4FAF9"/>
          </a:solidFill>
          <a:ln w="15875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97280" y="173736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i="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Login page</a:t>
            </a:r>
            <a:endParaRPr lang="en-US" sz="1800" dirty="0" i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4FAF9"/>
          </a:solidFill>
          <a:ln w="15875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217920" y="173736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i="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User dashboard</a:t>
            </a:r>
            <a:endParaRPr lang="en-US" sz="1800" dirty="0" i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097280" y="37947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4FAF9"/>
          </a:solidFill>
          <a:ln w="15875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7280" y="379476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i="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Credibility report</a:t>
            </a:r>
            <a:endParaRPr lang="en-US" sz="1800" dirty="0" i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4846320" cy="1783080"/>
          </a:xfrm>
          <a:prstGeom prst="roundRect">
            <a:avLst>
              <a:gd name="adj" fmla="val 4103"/>
            </a:avLst>
          </a:prstGeom>
          <a:solidFill>
            <a:srgbClr val="F4FAF9"/>
          </a:solidFill>
          <a:ln w="15875">
            <a:solidFill>
              <a:srgbClr val="00A896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217920" y="3794760"/>
            <a:ext cx="4846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800" i="0" dirty="0">
                <a:solidFill>
                  <a:srgbClr val="3E5C58"/>
                </a:solidFill>
                <a:latin typeface="Times New Roman"/>
                <a:ea typeface="Times New Roman"/>
                <a:cs typeface="Times New Roman"/>
              </a:rPr>
              <a:t>Admin dashboard</a:t>
            </a:r>
            <a:endParaRPr lang="en-US" sz="1800" dirty="0" i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Screenshots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7" name="Picture 16" descr="s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3102" y="1792224"/>
            <a:ext cx="4694675" cy="1353312"/>
          </a:xfrm>
          <a:prstGeom prst="rect">
            <a:avLst/>
          </a:prstGeom>
        </p:spPr>
      </p:pic>
      <p:pic>
        <p:nvPicPr>
          <p:cNvPr id="18" name="Picture 17" descr="s_d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935" y="1792224"/>
            <a:ext cx="4698290" cy="1353312"/>
          </a:xfrm>
          <a:prstGeom prst="rect">
            <a:avLst/>
          </a:prstGeom>
        </p:spPr>
      </p:pic>
      <p:pic>
        <p:nvPicPr>
          <p:cNvPr id="19" name="Picture 18" descr="s_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3170" y="3849624"/>
            <a:ext cx="4694539" cy="1353312"/>
          </a:xfrm>
          <a:prstGeom prst="rect">
            <a:avLst/>
          </a:prstGeom>
        </p:spPr>
      </p:pic>
      <p:pic>
        <p:nvPicPr>
          <p:cNvPr id="20" name="Picture 19" descr="s_adm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1935" y="3849624"/>
            <a:ext cx="4698290" cy="135331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14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CHALLENGES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Challenges Faced &amp; Solutions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691640"/>
          <a:ext cx="9966960" cy="3200400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Challenge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Solution Adopted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Pasted text scored as an unknown source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Source and transparency excluded; weights renormalised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 scores could swing the final result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 bounded around a measured baseline; app applies weights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Server-side fetch could reach internal hosts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Public-IP check on DNS and on every redirect hop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 or search outages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Automatic heuristic fallback; reports still scored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Repeated fetches and AI calls were slow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Redis or memory cache: 484 ms to 45 ms on repeat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Not-scored flag was lost on save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Added field to schema; verified in report UI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Challenges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15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NEXT STEPS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Remaining Work &amp; Plan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1691640"/>
            <a:ext cx="9875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Validate the Gemini and Serper evidence path with live API keys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Run a live Redis server and confirm cache behaviour under load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Add API integration tests beyond the 9 unit tests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Verify SMTP delivery and Google sign-in with real credentials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Accessibility and cross-browser audit; package the extension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800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Deploy (frontend host + MongoDB Atlas); final documentation and demo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Next Steps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16</a:t>
            </a:r>
            <a:endParaRPr lang="en-US" sz="1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109728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A896"/>
                </a:solidFill>
                <a:latin typeface="Times New Roman"/>
                <a:ea typeface="Times New Roman"/>
                <a:cs typeface="Times New Roman"/>
              </a:rPr>
              <a:t>REFERENCES</a:t>
            </a:r>
            <a:endParaRPr lang="en-US" sz="20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2E"/>
                </a:solidFill>
                <a:latin typeface="Times New Roman"/>
                <a:ea typeface="Times New Roman"/>
                <a:cs typeface="Times New Roman"/>
              </a:rPr>
              <a:t>References</a:t>
            </a:r>
            <a:endParaRPr lang="en-US" sz="2800" dirty="0" b="1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097280" y="1371600"/>
            <a:ext cx="10607040" cy="0"/>
          </a:xfrm>
          <a:prstGeom prst="line">
            <a:avLst/>
          </a:prstGeom>
          <a:noFill/>
          <a:ln w="12700">
            <a:solidFill>
              <a:srgbClr val="D7E7E5"/>
            </a:solidFill>
            <a:prstDash val="solid"/>
          </a:ln>
        </p:spPr>
        <p:txBody>
          <a:bodyPr/>
          <a:p/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691640"/>
          <a:ext cx="9966960" cy="3200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#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Reference</a:t>
                      </a:r>
                      <a:endParaRPr lang="en-US" sz="2000" dirty="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MongoDB, Express.js, React, Node.js: official documentation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Mongoose, Socket.IO, Vite, Bootstrap: official documentation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Google Gemini API and Serper search API documentation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K. Shu et al., Fake News Detection on Social Media: A Data Mining Perspective, ACM SIGKDD, 2017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W. Y. Wang, "Liar, Liar Pants on Fire": A New Benchmark Dataset for Fake News Detection, ACL, 2017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B2A2E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K. Shu and H. Liu, Detecting Fake News on Social Media, 2019</a:t>
                      </a:r>
                      <a:endParaRPr lang="en-US" sz="1800" dirty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>
                    <a:lnL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References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dirty="0">
                <a:solidFill>
                  <a:srgbClr val="7A8F8C"/>
                </a:solidFill>
                <a:latin typeface="Times New Roman"/>
                <a:ea typeface="Times New Roman"/>
                <a:cs typeface="Times New Roman"/>
              </a:rPr>
              <a:t>Review 1  |  NewsGuard AI (MERN Stack)</a:t>
            </a:r>
            <a:endParaRPr lang="en-US" sz="1800" dirty="0"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1161</Words>
  <Application>Microsoft Office PowerPoint</Application>
  <PresentationFormat>Widescreen</PresentationFormat>
  <Paragraphs>276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 lakshmi</cp:lastModifiedBy>
  <cp:revision>2</cp:revision>
  <dcterms:created xsi:type="dcterms:W3CDTF">2026-09-22T17:17:28Z</dcterms:created>
  <dcterms:modified xsi:type="dcterms:W3CDTF">2026-09-28T03:29:44Z</dcterms:modified>
</cp:coreProperties>
</file>