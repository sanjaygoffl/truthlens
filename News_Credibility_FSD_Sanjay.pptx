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3"/>
            <a:ext cx="5181600" cy="9080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048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60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219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1524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2133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2438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304800" indent="0">
              <a:buNone/>
              <a:defRPr sz="2000" b="1"/>
            </a:lvl2pPr>
            <a:lvl3pPr marL="609600" indent="0">
              <a:buNone/>
              <a:defRPr sz="1800" b="1"/>
            </a:lvl3pPr>
            <a:lvl4pPr marL="914400" indent="0">
              <a:buNone/>
              <a:defRPr sz="1600" b="1"/>
            </a:lvl4pPr>
            <a:lvl5pPr marL="1219200" indent="0">
              <a:buNone/>
              <a:defRPr sz="1600" b="1"/>
            </a:lvl5pPr>
            <a:lvl6pPr marL="1524000" indent="0">
              <a:buNone/>
              <a:defRPr sz="1600" b="1"/>
            </a:lvl6pPr>
            <a:lvl7pPr marL="1828800" indent="0">
              <a:buNone/>
              <a:defRPr sz="1600" b="1"/>
            </a:lvl7pPr>
            <a:lvl8pPr marL="2133600" indent="0">
              <a:buNone/>
              <a:defRPr sz="1600" b="1"/>
            </a:lvl8pPr>
            <a:lvl9pPr marL="24384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3" y="1023409"/>
            <a:ext cx="2694517" cy="4265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304800" indent="0">
              <a:buNone/>
              <a:defRPr sz="2000" b="1"/>
            </a:lvl2pPr>
            <a:lvl3pPr marL="609600" indent="0">
              <a:buNone/>
              <a:defRPr sz="1800" b="1"/>
            </a:lvl3pPr>
            <a:lvl4pPr marL="914400" indent="0">
              <a:buNone/>
              <a:defRPr sz="1600" b="1"/>
            </a:lvl4pPr>
            <a:lvl5pPr marL="1219200" indent="0">
              <a:buNone/>
              <a:defRPr sz="1600" b="1"/>
            </a:lvl5pPr>
            <a:lvl6pPr marL="1524000" indent="0">
              <a:buNone/>
              <a:defRPr sz="1600" b="1"/>
            </a:lvl6pPr>
            <a:lvl7pPr marL="1828800" indent="0">
              <a:buNone/>
              <a:defRPr sz="1600" b="1"/>
            </a:lvl7pPr>
            <a:lvl8pPr marL="2133600" indent="0">
              <a:buNone/>
              <a:defRPr sz="1600" b="1"/>
            </a:lvl8pPr>
            <a:lvl9pPr marL="24384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3" y="1449917"/>
            <a:ext cx="2694517" cy="263419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3"/>
            <a:ext cx="3407833" cy="3902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3"/>
            <a:ext cx="2005542" cy="3127375"/>
          </a:xfrm>
        </p:spPr>
        <p:txBody>
          <a:bodyPr/>
          <a:lstStyle>
            <a:lvl1pPr marL="0" indent="0">
              <a:buNone/>
              <a:defRPr sz="1400"/>
            </a:lvl1pPr>
            <a:lvl2pPr marL="304800" indent="0">
              <a:buNone/>
              <a:defRPr sz="1200"/>
            </a:lvl2pPr>
            <a:lvl3pPr marL="609600" indent="0">
              <a:buNone/>
              <a:defRPr sz="1000"/>
            </a:lvl3pPr>
            <a:lvl4pPr marL="914400" indent="0">
              <a:buNone/>
              <a:defRPr sz="900"/>
            </a:lvl4pPr>
            <a:lvl5pPr marL="1219200" indent="0">
              <a:buNone/>
              <a:defRPr sz="900"/>
            </a:lvl5pPr>
            <a:lvl6pPr marL="1524000" indent="0">
              <a:buNone/>
              <a:defRPr sz="900"/>
            </a:lvl6pPr>
            <a:lvl7pPr marL="1828800" indent="0">
              <a:buNone/>
              <a:defRPr sz="900"/>
            </a:lvl7pPr>
            <a:lvl8pPr marL="2133600" indent="0">
              <a:buNone/>
              <a:defRPr sz="900"/>
            </a:lvl8pPr>
            <a:lvl9pPr marL="24384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3200"/>
            </a:lvl1pPr>
            <a:lvl2pPr marL="304800" indent="0">
              <a:buNone/>
              <a:defRPr sz="2800"/>
            </a:lvl2pPr>
            <a:lvl3pPr marL="609600" indent="0">
              <a:buNone/>
              <a:defRPr sz="2400"/>
            </a:lvl3pPr>
            <a:lvl4pPr marL="914400" indent="0">
              <a:buNone/>
              <a:defRPr sz="2000"/>
            </a:lvl4pPr>
            <a:lvl5pPr marL="1219200" indent="0">
              <a:buNone/>
              <a:defRPr sz="2000"/>
            </a:lvl5pPr>
            <a:lvl6pPr marL="1524000" indent="0">
              <a:buNone/>
              <a:defRPr sz="2000"/>
            </a:lvl6pPr>
            <a:lvl7pPr marL="1828800" indent="0">
              <a:buNone/>
              <a:defRPr sz="2000"/>
            </a:lvl7pPr>
            <a:lvl8pPr marL="2133600" indent="0">
              <a:buNone/>
              <a:defRPr sz="2000"/>
            </a:lvl8pPr>
            <a:lvl9pPr marL="24384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1400"/>
            </a:lvl1pPr>
            <a:lvl2pPr marL="304800" indent="0">
              <a:buNone/>
              <a:defRPr sz="1200"/>
            </a:lvl2pPr>
            <a:lvl3pPr marL="609600" indent="0">
              <a:buNone/>
              <a:defRPr sz="1000"/>
            </a:lvl3pPr>
            <a:lvl4pPr marL="914400" indent="0">
              <a:buNone/>
              <a:defRPr sz="900"/>
            </a:lvl4pPr>
            <a:lvl5pPr marL="1219200" indent="0">
              <a:buNone/>
              <a:defRPr sz="900"/>
            </a:lvl5pPr>
            <a:lvl6pPr marL="1524000" indent="0">
              <a:buNone/>
              <a:defRPr sz="900"/>
            </a:lvl6pPr>
            <a:lvl7pPr marL="1828800" indent="0">
              <a:buNone/>
              <a:defRPr sz="900"/>
            </a:lvl7pPr>
            <a:lvl8pPr marL="2133600" indent="0">
              <a:buNone/>
              <a:defRPr sz="900"/>
            </a:lvl8pPr>
            <a:lvl9pPr marL="24384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/>
          <a:ea typeface="Times New Roman"/>
          <a:cs typeface="Times New Roman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Times New Roman"/>
          <a:ea typeface="Times New Roman"/>
          <a:cs typeface="Times New Roman"/>
        </a:defRPr>
      </a:lvl1pPr>
      <a:lvl2pPr marL="495300" indent="-19050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Times New Roman"/>
          <a:ea typeface="Times New Roman"/>
          <a:cs typeface="Times New Roman"/>
        </a:defRPr>
      </a:lvl2pPr>
      <a:lvl3pPr marL="762000" indent="-1524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/>
          <a:ea typeface="Times New Roman"/>
          <a:cs typeface="Times New Roman"/>
        </a:defRPr>
      </a:lvl3pPr>
      <a:lvl4pPr marL="1066800" indent="-1524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/>
          <a:ea typeface="Times New Roman"/>
          <a:cs typeface="Times New Roman"/>
        </a:defRPr>
      </a:lvl4pPr>
      <a:lvl5pPr marL="1371600" indent="-1524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Times New Roman"/>
          <a:ea typeface="Times New Roman"/>
          <a:cs typeface="Times New Roman"/>
        </a:defRPr>
      </a:lvl5pPr>
      <a:lvl6pPr marL="1676400" indent="-1524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Times New Roman"/>
          <a:cs typeface="Times New Roman"/>
        </a:defRPr>
      </a:lvl6pPr>
      <a:lvl7pPr marL="1981200" indent="-1524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Times New Roman"/>
          <a:cs typeface="Times New Roman"/>
        </a:defRPr>
      </a:lvl7pPr>
      <a:lvl8pPr marL="2286000" indent="-1524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Times New Roman"/>
          <a:cs typeface="Times New Roman"/>
        </a:defRPr>
      </a:lvl8pPr>
      <a:lvl9pPr marL="2590800" indent="-1524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Times New Roman"/>
          <a:cs typeface="Times New Roman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1pPr>
      <a:lvl2pPr marL="3048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2pPr>
      <a:lvl3pPr marL="6096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3pPr>
      <a:lvl4pPr marL="9144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4pPr>
      <a:lvl5pPr marL="12192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5pPr>
      <a:lvl6pPr marL="15240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6pPr>
      <a:lvl7pPr marL="18288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7pPr>
      <a:lvl8pPr marL="21336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8pPr>
      <a:lvl9pPr marL="24384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" y="228600"/>
            <a:ext cx="2851518" cy="6638627"/>
          </a:xfrm>
          <a:custGeom>
            <a:avLst/>
            <a:gdLst/>
            <a:ahLst/>
            <a:cxnLst/>
            <a:rect l="l" t="t" r="r" b="b"/>
            <a:pathLst>
              <a:path w="4277277" h="9957940">
                <a:moveTo>
                  <a:pt x="0" y="0"/>
                </a:moveTo>
                <a:lnTo>
                  <a:pt x="4277278" y="0"/>
                </a:lnTo>
                <a:lnTo>
                  <a:pt x="4277278" y="9957940"/>
                </a:lnTo>
                <a:lnTo>
                  <a:pt x="0" y="99579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7223" y="159"/>
            <a:ext cx="2356675" cy="6853098"/>
          </a:xfrm>
          <a:custGeom>
            <a:avLst/>
            <a:gdLst/>
            <a:ahLst/>
            <a:cxnLst/>
            <a:rect l="l" t="t" r="r" b="b"/>
            <a:pathLst>
              <a:path w="3535013" h="10279647">
                <a:moveTo>
                  <a:pt x="0" y="0"/>
                </a:moveTo>
                <a:lnTo>
                  <a:pt x="3535013" y="0"/>
                </a:lnTo>
                <a:lnTo>
                  <a:pt x="3535013" y="10279647"/>
                </a:lnTo>
                <a:lnTo>
                  <a:pt x="0" y="102796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0"/>
            <a:ext cx="182880" cy="6858000"/>
            <a:chOff x="0" y="0"/>
            <a:chExt cx="243840" cy="9144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" cy="9144000"/>
            </a:xfrm>
            <a:custGeom>
              <a:avLst/>
              <a:gdLst/>
              <a:ahLst/>
              <a:cxnLst/>
              <a:rect l="l" t="t" r="r" b="b"/>
              <a:pathLst>
                <a:path w="365760" h="1371600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5369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0" y="4323810"/>
            <a:ext cx="1744650" cy="778586"/>
            <a:chOff x="0" y="0"/>
            <a:chExt cx="2326200" cy="103811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23084" cy="1038098"/>
            </a:xfrm>
            <a:custGeom>
              <a:avLst/>
              <a:gdLst/>
              <a:ahLst/>
              <a:cxnLst/>
              <a:rect l="l" t="t" r="r" b="b"/>
              <a:pathLst>
                <a:path w="3484626" h="1557147">
                  <a:moveTo>
                    <a:pt x="2692019" y="1557147"/>
                  </a:moveTo>
                  <a:cubicBezTo>
                    <a:pt x="2720213" y="1557147"/>
                    <a:pt x="2738882" y="1547749"/>
                    <a:pt x="2748280" y="1538351"/>
                  </a:cubicBezTo>
                  <a:cubicBezTo>
                    <a:pt x="2748280" y="1528953"/>
                    <a:pt x="2757678" y="1528953"/>
                    <a:pt x="2757678" y="1528953"/>
                  </a:cubicBezTo>
                  <a:cubicBezTo>
                    <a:pt x="3470529" y="815975"/>
                    <a:pt x="3470529" y="815975"/>
                    <a:pt x="3470529" y="815975"/>
                  </a:cubicBezTo>
                  <a:cubicBezTo>
                    <a:pt x="3489325" y="797179"/>
                    <a:pt x="3489325" y="759714"/>
                    <a:pt x="3470529" y="731520"/>
                  </a:cubicBezTo>
                  <a:cubicBezTo>
                    <a:pt x="2757678" y="27940"/>
                    <a:pt x="2757678" y="27940"/>
                    <a:pt x="2757678" y="27940"/>
                  </a:cubicBezTo>
                  <a:cubicBezTo>
                    <a:pt x="2757678" y="18542"/>
                    <a:pt x="2748280" y="18542"/>
                    <a:pt x="2748280" y="18542"/>
                  </a:cubicBezTo>
                  <a:cubicBezTo>
                    <a:pt x="2738882" y="9398"/>
                    <a:pt x="2720213" y="0"/>
                    <a:pt x="269201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557147"/>
                    <a:pt x="0" y="1557147"/>
                    <a:pt x="0" y="1557147"/>
                  </a:cubicBezTo>
                  <a:lnTo>
                    <a:pt x="2692019" y="1557147"/>
                  </a:lnTo>
                  <a:close/>
                </a:path>
              </a:pathLst>
            </a:custGeom>
            <a:solidFill>
              <a:srgbClr val="353535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2963595" y="638534"/>
            <a:ext cx="10029507" cy="1442085"/>
            <a:chOff x="0" y="-12700"/>
            <a:chExt cx="13372677" cy="19227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372677" cy="1910080"/>
            </a:xfrm>
            <a:custGeom>
              <a:avLst/>
              <a:gdLst/>
              <a:ahLst/>
              <a:cxnLst/>
              <a:rect l="l" t="t" r="r" b="b"/>
              <a:pathLst>
                <a:path w="20059014" h="2865120">
                  <a:moveTo>
                    <a:pt x="0" y="0"/>
                  </a:moveTo>
                  <a:lnTo>
                    <a:pt x="20059014" y="0"/>
                  </a:lnTo>
                  <a:lnTo>
                    <a:pt x="20059014" y="2865120"/>
                  </a:lnTo>
                  <a:lnTo>
                    <a:pt x="0" y="28651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86416" b="-86416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2700"/>
              <a:ext cx="13372677" cy="192278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2400"/>
                </a:lnSpc>
              </a:pPr>
              <a:r>
                <a:rPr lang="en-US" sz="2000" b="1" dirty="0">
                  <a:solidFill>
                    <a:srgbClr val="178DB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  </a:t>
              </a:r>
              <a:r>
                <a:rPr lang="en-US" sz="2000" b="1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EASWARI ENGINEERING COLLEGE</a:t>
              </a:r>
            </a:p>
            <a:p>
              <a:pPr algn="l">
                <a:lnSpc>
                  <a:spcPts val="3439"/>
                </a:lnSpc>
              </a:pPr>
              <a:endParaRPr lang="en-US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124393" y="2183130"/>
            <a:ext cx="8793480" cy="263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 b="1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AI-Based News Credibility and Misinformation Detection System</a:t>
            </a:r>
          </a:p>
          <a:p>
            <a:pPr algn="l">
              <a:lnSpc>
                <a:spcPts val="2400"/>
              </a:lnSpc>
            </a:pPr>
            <a:endParaRPr lang="en-US" sz="2800" b="1" dirty="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>
              <a:lnSpc>
                <a:spcPts val="2160"/>
              </a:lnSpc>
            </a:pPr>
            <a:r>
              <a:rPr lang="en-US" sz="1800" b="1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                                    Presented By</a:t>
            </a:r>
          </a:p>
          <a:p>
            <a:pPr algn="l">
              <a:lnSpc>
                <a:spcPts val="2160"/>
              </a:lnSpc>
            </a:pPr>
            <a:r>
              <a:rPr lang="en-US" sz="1800" b="1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Ms. D S K Harshitha                                       </a:t>
            </a:r>
            <a:r>
              <a:rPr lang="en-US" sz="180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Sanjay G (310624243159)</a:t>
            </a:r>
          </a:p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Technical Trainer, AIADS 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839214" y="712457"/>
            <a:ext cx="1499997" cy="1303763"/>
            <a:chOff x="0" y="0"/>
            <a:chExt cx="1999996" cy="173835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99996" cy="1738376"/>
            </a:xfrm>
            <a:custGeom>
              <a:avLst/>
              <a:gdLst/>
              <a:ahLst/>
              <a:cxnLst/>
              <a:rect l="l" t="t" r="r" b="b"/>
              <a:pathLst>
                <a:path w="2999994" h="2607564">
                  <a:moveTo>
                    <a:pt x="0" y="0"/>
                  </a:moveTo>
                  <a:lnTo>
                    <a:pt x="2999994" y="0"/>
                  </a:lnTo>
                  <a:lnTo>
                    <a:pt x="2999994" y="2607564"/>
                  </a:lnTo>
                  <a:lnTo>
                    <a:pt x="0" y="2607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8" r="-18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" y="228600"/>
            <a:ext cx="2851518" cy="6638627"/>
          </a:xfrm>
          <a:custGeom>
            <a:avLst/>
            <a:gdLst/>
            <a:ahLst/>
            <a:cxnLst/>
            <a:rect l="l" t="t" r="r" b="b"/>
            <a:pathLst>
              <a:path w="4277277" h="9957940">
                <a:moveTo>
                  <a:pt x="0" y="0"/>
                </a:moveTo>
                <a:lnTo>
                  <a:pt x="4277278" y="0"/>
                </a:lnTo>
                <a:lnTo>
                  <a:pt x="4277278" y="9957940"/>
                </a:lnTo>
                <a:lnTo>
                  <a:pt x="0" y="99579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7223" y="159"/>
            <a:ext cx="2356675" cy="6853098"/>
          </a:xfrm>
          <a:custGeom>
            <a:avLst/>
            <a:gdLst/>
            <a:ahLst/>
            <a:cxnLst/>
            <a:rect l="l" t="t" r="r" b="b"/>
            <a:pathLst>
              <a:path w="3535013" h="10279647">
                <a:moveTo>
                  <a:pt x="0" y="0"/>
                </a:moveTo>
                <a:lnTo>
                  <a:pt x="3535013" y="0"/>
                </a:lnTo>
                <a:lnTo>
                  <a:pt x="3535013" y="10279647"/>
                </a:lnTo>
                <a:lnTo>
                  <a:pt x="0" y="102796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0"/>
            <a:ext cx="182880" cy="6858000"/>
            <a:chOff x="0" y="0"/>
            <a:chExt cx="243840" cy="9144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" cy="9144000"/>
            </a:xfrm>
            <a:custGeom>
              <a:avLst/>
              <a:gdLst/>
              <a:ahLst/>
              <a:cxnLst/>
              <a:rect l="l" t="t" r="r" b="b"/>
              <a:pathLst>
                <a:path w="365760" h="1371600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5369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-4191" y="714375"/>
            <a:ext cx="1588529" cy="507295"/>
            <a:chOff x="0" y="0"/>
            <a:chExt cx="2118038" cy="6763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27483" cy="676402"/>
            </a:xfrm>
            <a:custGeom>
              <a:avLst/>
              <a:gdLst/>
              <a:ahLst/>
              <a:cxnLst/>
              <a:rect l="l" t="t" r="r" b="b"/>
              <a:pathLst>
                <a:path w="3191224" h="1014603">
                  <a:moveTo>
                    <a:pt x="3177032" y="537591"/>
                  </a:moveTo>
                  <a:lnTo>
                    <a:pt x="2719070" y="995553"/>
                  </a:lnTo>
                  <a:cubicBezTo>
                    <a:pt x="2716022" y="998855"/>
                    <a:pt x="2712212" y="1001903"/>
                    <a:pt x="2709164" y="1005078"/>
                  </a:cubicBezTo>
                  <a:cubicBezTo>
                    <a:pt x="2699893" y="1014603"/>
                    <a:pt x="2690241" y="1014603"/>
                    <a:pt x="2680589" y="1014603"/>
                  </a:cubicBezTo>
                  <a:lnTo>
                    <a:pt x="2499233" y="1014603"/>
                  </a:lnTo>
                  <a:lnTo>
                    <a:pt x="0" y="1007491"/>
                  </a:lnTo>
                  <a:cubicBezTo>
                    <a:pt x="2794" y="671703"/>
                    <a:pt x="5842" y="335788"/>
                    <a:pt x="8636" y="0"/>
                  </a:cubicBezTo>
                  <a:lnTo>
                    <a:pt x="2499233" y="3429"/>
                  </a:lnTo>
                  <a:lnTo>
                    <a:pt x="2680589" y="3429"/>
                  </a:lnTo>
                  <a:cubicBezTo>
                    <a:pt x="2690241" y="3429"/>
                    <a:pt x="2699766" y="12954"/>
                    <a:pt x="2709164" y="12954"/>
                  </a:cubicBezTo>
                  <a:cubicBezTo>
                    <a:pt x="2709164" y="22479"/>
                    <a:pt x="2719070" y="22479"/>
                    <a:pt x="2719070" y="22479"/>
                  </a:cubicBezTo>
                  <a:lnTo>
                    <a:pt x="3177032" y="480314"/>
                  </a:lnTo>
                  <a:cubicBezTo>
                    <a:pt x="3195955" y="499364"/>
                    <a:pt x="3195955" y="518414"/>
                    <a:pt x="3177032" y="537591"/>
                  </a:cubicBezTo>
                  <a:close/>
                </a:path>
              </a:pathLst>
            </a:custGeom>
            <a:solidFill>
              <a:srgbClr val="353535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2653887" y="641890"/>
            <a:ext cx="8789765" cy="1232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endParaRPr/>
          </a:p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CONTENTS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50173" y="2049780"/>
            <a:ext cx="8793480" cy="3228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</a:t>
            </a:r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" y="228600"/>
            <a:ext cx="2851518" cy="6638627"/>
          </a:xfrm>
          <a:custGeom>
            <a:avLst/>
            <a:gdLst/>
            <a:ahLst/>
            <a:cxnLst/>
            <a:rect l="l" t="t" r="r" b="b"/>
            <a:pathLst>
              <a:path w="4277277" h="9957940">
                <a:moveTo>
                  <a:pt x="0" y="0"/>
                </a:moveTo>
                <a:lnTo>
                  <a:pt x="4277278" y="0"/>
                </a:lnTo>
                <a:lnTo>
                  <a:pt x="4277278" y="9957940"/>
                </a:lnTo>
                <a:lnTo>
                  <a:pt x="0" y="99579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7223" y="159"/>
            <a:ext cx="2356675" cy="6853098"/>
          </a:xfrm>
          <a:custGeom>
            <a:avLst/>
            <a:gdLst/>
            <a:ahLst/>
            <a:cxnLst/>
            <a:rect l="l" t="t" r="r" b="b"/>
            <a:pathLst>
              <a:path w="3535013" h="10279647">
                <a:moveTo>
                  <a:pt x="0" y="0"/>
                </a:moveTo>
                <a:lnTo>
                  <a:pt x="3535013" y="0"/>
                </a:lnTo>
                <a:lnTo>
                  <a:pt x="3535013" y="10279647"/>
                </a:lnTo>
                <a:lnTo>
                  <a:pt x="0" y="102796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0"/>
            <a:ext cx="182880" cy="6858000"/>
            <a:chOff x="0" y="0"/>
            <a:chExt cx="243840" cy="9144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" cy="9144000"/>
            </a:xfrm>
            <a:custGeom>
              <a:avLst/>
              <a:gdLst/>
              <a:ahLst/>
              <a:cxnLst/>
              <a:rect l="l" t="t" r="r" b="b"/>
              <a:pathLst>
                <a:path w="365760" h="1371600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5369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-4191" y="714375"/>
            <a:ext cx="1588529" cy="507295"/>
            <a:chOff x="0" y="0"/>
            <a:chExt cx="2118038" cy="6763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27483" cy="676402"/>
            </a:xfrm>
            <a:custGeom>
              <a:avLst/>
              <a:gdLst/>
              <a:ahLst/>
              <a:cxnLst/>
              <a:rect l="l" t="t" r="r" b="b"/>
              <a:pathLst>
                <a:path w="3191224" h="1014603">
                  <a:moveTo>
                    <a:pt x="3177032" y="537591"/>
                  </a:moveTo>
                  <a:lnTo>
                    <a:pt x="2719070" y="995553"/>
                  </a:lnTo>
                  <a:cubicBezTo>
                    <a:pt x="2716022" y="998855"/>
                    <a:pt x="2712212" y="1001903"/>
                    <a:pt x="2709164" y="1005078"/>
                  </a:cubicBezTo>
                  <a:cubicBezTo>
                    <a:pt x="2699893" y="1014603"/>
                    <a:pt x="2690241" y="1014603"/>
                    <a:pt x="2680589" y="1014603"/>
                  </a:cubicBezTo>
                  <a:lnTo>
                    <a:pt x="2499233" y="1014603"/>
                  </a:lnTo>
                  <a:lnTo>
                    <a:pt x="0" y="1007491"/>
                  </a:lnTo>
                  <a:cubicBezTo>
                    <a:pt x="2794" y="671703"/>
                    <a:pt x="5842" y="335788"/>
                    <a:pt x="8636" y="0"/>
                  </a:cubicBezTo>
                  <a:lnTo>
                    <a:pt x="2499233" y="3429"/>
                  </a:lnTo>
                  <a:lnTo>
                    <a:pt x="2680589" y="3429"/>
                  </a:lnTo>
                  <a:cubicBezTo>
                    <a:pt x="2690241" y="3429"/>
                    <a:pt x="2699766" y="12954"/>
                    <a:pt x="2709164" y="12954"/>
                  </a:cubicBezTo>
                  <a:cubicBezTo>
                    <a:pt x="2709164" y="22479"/>
                    <a:pt x="2719070" y="22479"/>
                    <a:pt x="2719070" y="22479"/>
                  </a:cubicBezTo>
                  <a:lnTo>
                    <a:pt x="3177032" y="480314"/>
                  </a:lnTo>
                  <a:cubicBezTo>
                    <a:pt x="3195955" y="499364"/>
                    <a:pt x="3195955" y="518414"/>
                    <a:pt x="3177032" y="537591"/>
                  </a:cubicBezTo>
                  <a:close/>
                </a:path>
              </a:pathLst>
            </a:custGeom>
            <a:solidFill>
              <a:srgbClr val="353535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2653887" y="641890"/>
            <a:ext cx="8789765" cy="1232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endParaRPr dirty="0"/>
          </a:p>
          <a:p>
            <a:pPr algn="l">
              <a:lnSpc>
                <a:spcPts val="240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728747" y="1821180"/>
            <a:ext cx="8503133" cy="323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Misinformation spreads rapidly across digital platforms, making it difficult for users to judge whether news is genuine or misleading. This project develops a system that analyzes news content using NLP techniques and assesses its credibility, helping users identify potentially misleading information. Users submit news through a simple web interface built with React and TypeScript, while Node.js and Express.js handle backend requests through REST APIs. 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MongoDB</a:t>
            </a: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stores the application data and Redis provides faster access to frequently used data.</a:t>
            </a:r>
          </a:p>
          <a:p>
            <a:pPr algn="just">
              <a:lnSpc>
                <a:spcPts val="3240"/>
              </a:lnSpc>
            </a:pPr>
            <a:endParaRPr lang="en-US"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" y="228600"/>
            <a:ext cx="2851518" cy="6638627"/>
          </a:xfrm>
          <a:custGeom>
            <a:avLst/>
            <a:gdLst/>
            <a:ahLst/>
            <a:cxnLst/>
            <a:rect l="l" t="t" r="r" b="b"/>
            <a:pathLst>
              <a:path w="4277277" h="9957940">
                <a:moveTo>
                  <a:pt x="0" y="0"/>
                </a:moveTo>
                <a:lnTo>
                  <a:pt x="4277278" y="0"/>
                </a:lnTo>
                <a:lnTo>
                  <a:pt x="4277278" y="9957940"/>
                </a:lnTo>
                <a:lnTo>
                  <a:pt x="0" y="99579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7223" y="159"/>
            <a:ext cx="2356675" cy="6853098"/>
          </a:xfrm>
          <a:custGeom>
            <a:avLst/>
            <a:gdLst/>
            <a:ahLst/>
            <a:cxnLst/>
            <a:rect l="l" t="t" r="r" b="b"/>
            <a:pathLst>
              <a:path w="3535013" h="10279647">
                <a:moveTo>
                  <a:pt x="0" y="0"/>
                </a:moveTo>
                <a:lnTo>
                  <a:pt x="3535013" y="0"/>
                </a:lnTo>
                <a:lnTo>
                  <a:pt x="3535013" y="10279647"/>
                </a:lnTo>
                <a:lnTo>
                  <a:pt x="0" y="102796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0"/>
            <a:ext cx="182880" cy="6858000"/>
            <a:chOff x="0" y="0"/>
            <a:chExt cx="243840" cy="9144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" cy="9144000"/>
            </a:xfrm>
            <a:custGeom>
              <a:avLst/>
              <a:gdLst/>
              <a:ahLst/>
              <a:cxnLst/>
              <a:rect l="l" t="t" r="r" b="b"/>
              <a:pathLst>
                <a:path w="365760" h="1371600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5369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-4191" y="714375"/>
            <a:ext cx="1588529" cy="507295"/>
            <a:chOff x="0" y="0"/>
            <a:chExt cx="2118038" cy="6763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27483" cy="676402"/>
            </a:xfrm>
            <a:custGeom>
              <a:avLst/>
              <a:gdLst/>
              <a:ahLst/>
              <a:cxnLst/>
              <a:rect l="l" t="t" r="r" b="b"/>
              <a:pathLst>
                <a:path w="3191224" h="1014603">
                  <a:moveTo>
                    <a:pt x="3177032" y="537591"/>
                  </a:moveTo>
                  <a:lnTo>
                    <a:pt x="2719070" y="995553"/>
                  </a:lnTo>
                  <a:cubicBezTo>
                    <a:pt x="2716022" y="998855"/>
                    <a:pt x="2712212" y="1001903"/>
                    <a:pt x="2709164" y="1005078"/>
                  </a:cubicBezTo>
                  <a:cubicBezTo>
                    <a:pt x="2699893" y="1014603"/>
                    <a:pt x="2690241" y="1014603"/>
                    <a:pt x="2680589" y="1014603"/>
                  </a:cubicBezTo>
                  <a:lnTo>
                    <a:pt x="2499233" y="1014603"/>
                  </a:lnTo>
                  <a:lnTo>
                    <a:pt x="0" y="1007491"/>
                  </a:lnTo>
                  <a:cubicBezTo>
                    <a:pt x="2794" y="671703"/>
                    <a:pt x="5842" y="335788"/>
                    <a:pt x="8636" y="0"/>
                  </a:cubicBezTo>
                  <a:lnTo>
                    <a:pt x="2499233" y="3429"/>
                  </a:lnTo>
                  <a:lnTo>
                    <a:pt x="2680589" y="3429"/>
                  </a:lnTo>
                  <a:cubicBezTo>
                    <a:pt x="2690241" y="3429"/>
                    <a:pt x="2699766" y="12954"/>
                    <a:pt x="2709164" y="12954"/>
                  </a:cubicBezTo>
                  <a:cubicBezTo>
                    <a:pt x="2709164" y="22479"/>
                    <a:pt x="2719070" y="22479"/>
                    <a:pt x="2719070" y="22479"/>
                  </a:cubicBezTo>
                  <a:lnTo>
                    <a:pt x="3177032" y="480314"/>
                  </a:lnTo>
                  <a:cubicBezTo>
                    <a:pt x="3195955" y="499364"/>
                    <a:pt x="3195955" y="518414"/>
                    <a:pt x="3177032" y="537591"/>
                  </a:cubicBezTo>
                  <a:close/>
                </a:path>
              </a:pathLst>
            </a:custGeom>
            <a:solidFill>
              <a:srgbClr val="353535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2653887" y="641890"/>
            <a:ext cx="8789765" cy="1232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endParaRPr/>
          </a:p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50173" y="2049780"/>
            <a:ext cx="8793480" cy="282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News now reaches readers rapidly through social media and other digital platforms, where genuine and misleading content circulate together. Users often find it difficult to decide whether a news item is trustworthy before acting on it or sharing it further. Verifying news manually means searching several websites and fact-checking sites, which takes considerable time and depends on human judgment. This creates a need for a system that analyzes news content using NLP techniques and presents a credibility assessment through an accessible web interface.</a:t>
            </a:r>
          </a:p>
          <a:p>
            <a:pPr marL="325755" lvl="1" indent="-162877" algn="l">
              <a:lnSpc>
                <a:spcPts val="3240"/>
              </a:lnSpc>
            </a:pPr>
            <a:endParaRPr lang="en-US" sz="180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" y="228600"/>
            <a:ext cx="2851518" cy="6638627"/>
          </a:xfrm>
          <a:custGeom>
            <a:avLst/>
            <a:gdLst/>
            <a:ahLst/>
            <a:cxnLst/>
            <a:rect l="l" t="t" r="r" b="b"/>
            <a:pathLst>
              <a:path w="4277277" h="9957940">
                <a:moveTo>
                  <a:pt x="0" y="0"/>
                </a:moveTo>
                <a:lnTo>
                  <a:pt x="4277278" y="0"/>
                </a:lnTo>
                <a:lnTo>
                  <a:pt x="4277278" y="9957940"/>
                </a:lnTo>
                <a:lnTo>
                  <a:pt x="0" y="99579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7223" y="159"/>
            <a:ext cx="2356675" cy="6853098"/>
          </a:xfrm>
          <a:custGeom>
            <a:avLst/>
            <a:gdLst/>
            <a:ahLst/>
            <a:cxnLst/>
            <a:rect l="l" t="t" r="r" b="b"/>
            <a:pathLst>
              <a:path w="3535013" h="10279647">
                <a:moveTo>
                  <a:pt x="0" y="0"/>
                </a:moveTo>
                <a:lnTo>
                  <a:pt x="3535013" y="0"/>
                </a:lnTo>
                <a:lnTo>
                  <a:pt x="3535013" y="10279647"/>
                </a:lnTo>
                <a:lnTo>
                  <a:pt x="0" y="102796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0"/>
            <a:ext cx="182880" cy="6858000"/>
            <a:chOff x="0" y="0"/>
            <a:chExt cx="243840" cy="9144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" cy="9144000"/>
            </a:xfrm>
            <a:custGeom>
              <a:avLst/>
              <a:gdLst/>
              <a:ahLst/>
              <a:cxnLst/>
              <a:rect l="l" t="t" r="r" b="b"/>
              <a:pathLst>
                <a:path w="365760" h="1371600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5369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-4191" y="714375"/>
            <a:ext cx="1588529" cy="507295"/>
            <a:chOff x="0" y="0"/>
            <a:chExt cx="2118038" cy="6763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27483" cy="676402"/>
            </a:xfrm>
            <a:custGeom>
              <a:avLst/>
              <a:gdLst/>
              <a:ahLst/>
              <a:cxnLst/>
              <a:rect l="l" t="t" r="r" b="b"/>
              <a:pathLst>
                <a:path w="3191224" h="1014603">
                  <a:moveTo>
                    <a:pt x="3177032" y="537591"/>
                  </a:moveTo>
                  <a:lnTo>
                    <a:pt x="2719070" y="995553"/>
                  </a:lnTo>
                  <a:cubicBezTo>
                    <a:pt x="2716022" y="998855"/>
                    <a:pt x="2712212" y="1001903"/>
                    <a:pt x="2709164" y="1005078"/>
                  </a:cubicBezTo>
                  <a:cubicBezTo>
                    <a:pt x="2699893" y="1014603"/>
                    <a:pt x="2690241" y="1014603"/>
                    <a:pt x="2680589" y="1014603"/>
                  </a:cubicBezTo>
                  <a:lnTo>
                    <a:pt x="2499233" y="1014603"/>
                  </a:lnTo>
                  <a:lnTo>
                    <a:pt x="0" y="1007491"/>
                  </a:lnTo>
                  <a:cubicBezTo>
                    <a:pt x="2794" y="671703"/>
                    <a:pt x="5842" y="335788"/>
                    <a:pt x="8636" y="0"/>
                  </a:cubicBezTo>
                  <a:lnTo>
                    <a:pt x="2499233" y="3429"/>
                  </a:lnTo>
                  <a:lnTo>
                    <a:pt x="2680589" y="3429"/>
                  </a:lnTo>
                  <a:cubicBezTo>
                    <a:pt x="2690241" y="3429"/>
                    <a:pt x="2699766" y="12954"/>
                    <a:pt x="2709164" y="12954"/>
                  </a:cubicBezTo>
                  <a:cubicBezTo>
                    <a:pt x="2709164" y="22479"/>
                    <a:pt x="2719070" y="22479"/>
                    <a:pt x="2719070" y="22479"/>
                  </a:cubicBezTo>
                  <a:lnTo>
                    <a:pt x="3177032" y="480314"/>
                  </a:lnTo>
                  <a:cubicBezTo>
                    <a:pt x="3195955" y="499364"/>
                    <a:pt x="3195955" y="518414"/>
                    <a:pt x="3177032" y="537591"/>
                  </a:cubicBezTo>
                  <a:close/>
                </a:path>
              </a:pathLst>
            </a:custGeom>
            <a:solidFill>
              <a:srgbClr val="353535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2653887" y="641890"/>
            <a:ext cx="8789765" cy="1232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endParaRPr/>
          </a:p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50173" y="2049780"/>
            <a:ext cx="8793480" cy="3228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Misinformation spreads rapidly across social media and digital platforms, reaching large audiences within a very short time. Users often find it difficult to identify whether a given news item is genuine or misleading. Manual verification requires checking multiple sources and fact-checking websites, which takes considerable time and effort. Therefore, an automated system is needed to analyze news content and provide an accessible credibility assessment to users.</a:t>
            </a:r>
          </a:p>
          <a:p>
            <a:pPr marL="325755" lvl="1" indent="-162877" algn="l">
              <a:lnSpc>
                <a:spcPts val="3240"/>
              </a:lnSpc>
            </a:pPr>
            <a:endParaRPr lang="en-US" sz="180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" y="228600"/>
            <a:ext cx="2851518" cy="6638627"/>
          </a:xfrm>
          <a:custGeom>
            <a:avLst/>
            <a:gdLst/>
            <a:ahLst/>
            <a:cxnLst/>
            <a:rect l="l" t="t" r="r" b="b"/>
            <a:pathLst>
              <a:path w="4277277" h="9957940">
                <a:moveTo>
                  <a:pt x="0" y="0"/>
                </a:moveTo>
                <a:lnTo>
                  <a:pt x="4277278" y="0"/>
                </a:lnTo>
                <a:lnTo>
                  <a:pt x="4277278" y="9957940"/>
                </a:lnTo>
                <a:lnTo>
                  <a:pt x="0" y="99579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7223" y="159"/>
            <a:ext cx="2356675" cy="6853098"/>
          </a:xfrm>
          <a:custGeom>
            <a:avLst/>
            <a:gdLst/>
            <a:ahLst/>
            <a:cxnLst/>
            <a:rect l="l" t="t" r="r" b="b"/>
            <a:pathLst>
              <a:path w="3535013" h="10279647">
                <a:moveTo>
                  <a:pt x="0" y="0"/>
                </a:moveTo>
                <a:lnTo>
                  <a:pt x="3535013" y="0"/>
                </a:lnTo>
                <a:lnTo>
                  <a:pt x="3535013" y="10279647"/>
                </a:lnTo>
                <a:lnTo>
                  <a:pt x="0" y="102796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0"/>
            <a:ext cx="182880" cy="6858000"/>
            <a:chOff x="0" y="0"/>
            <a:chExt cx="243840" cy="9144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" cy="9144000"/>
            </a:xfrm>
            <a:custGeom>
              <a:avLst/>
              <a:gdLst/>
              <a:ahLst/>
              <a:cxnLst/>
              <a:rect l="l" t="t" r="r" b="b"/>
              <a:pathLst>
                <a:path w="365760" h="1371600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5369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-4191" y="714375"/>
            <a:ext cx="1588529" cy="507295"/>
            <a:chOff x="0" y="0"/>
            <a:chExt cx="2118038" cy="6763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27483" cy="676402"/>
            </a:xfrm>
            <a:custGeom>
              <a:avLst/>
              <a:gdLst/>
              <a:ahLst/>
              <a:cxnLst/>
              <a:rect l="l" t="t" r="r" b="b"/>
              <a:pathLst>
                <a:path w="3191224" h="1014603">
                  <a:moveTo>
                    <a:pt x="3177032" y="537591"/>
                  </a:moveTo>
                  <a:lnTo>
                    <a:pt x="2719070" y="995553"/>
                  </a:lnTo>
                  <a:cubicBezTo>
                    <a:pt x="2716022" y="998855"/>
                    <a:pt x="2712212" y="1001903"/>
                    <a:pt x="2709164" y="1005078"/>
                  </a:cubicBezTo>
                  <a:cubicBezTo>
                    <a:pt x="2699893" y="1014603"/>
                    <a:pt x="2690241" y="1014603"/>
                    <a:pt x="2680589" y="1014603"/>
                  </a:cubicBezTo>
                  <a:lnTo>
                    <a:pt x="2499233" y="1014603"/>
                  </a:lnTo>
                  <a:lnTo>
                    <a:pt x="0" y="1007491"/>
                  </a:lnTo>
                  <a:cubicBezTo>
                    <a:pt x="2794" y="671703"/>
                    <a:pt x="5842" y="335788"/>
                    <a:pt x="8636" y="0"/>
                  </a:cubicBezTo>
                  <a:lnTo>
                    <a:pt x="2499233" y="3429"/>
                  </a:lnTo>
                  <a:lnTo>
                    <a:pt x="2680589" y="3429"/>
                  </a:lnTo>
                  <a:cubicBezTo>
                    <a:pt x="2690241" y="3429"/>
                    <a:pt x="2699766" y="12954"/>
                    <a:pt x="2709164" y="12954"/>
                  </a:cubicBezTo>
                  <a:cubicBezTo>
                    <a:pt x="2709164" y="22479"/>
                    <a:pt x="2719070" y="22479"/>
                    <a:pt x="2719070" y="22479"/>
                  </a:cubicBezTo>
                  <a:lnTo>
                    <a:pt x="3177032" y="480314"/>
                  </a:lnTo>
                  <a:cubicBezTo>
                    <a:pt x="3195955" y="499364"/>
                    <a:pt x="3195955" y="518414"/>
                    <a:pt x="3177032" y="537591"/>
                  </a:cubicBezTo>
                  <a:close/>
                </a:path>
              </a:pathLst>
            </a:custGeom>
            <a:solidFill>
              <a:srgbClr val="353535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2653887" y="641890"/>
            <a:ext cx="8789765" cy="1232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endParaRPr/>
          </a:p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29503" y="1676400"/>
            <a:ext cx="8793480" cy="3959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r>
              <a:rPr lang="en-US" sz="18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Fact-Checking</a:t>
            </a:r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endParaRPr lang="en-US" sz="1800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r>
              <a:rPr lang="en-US" sz="18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Websites</a:t>
            </a:r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endParaRPr lang="en-US" sz="1800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r>
              <a:rPr lang="en-US" sz="18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Fact-Checking Sites</a:t>
            </a:r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endParaRPr lang="en-US" sz="1800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r>
              <a:rPr lang="en-US" sz="18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 Comparison</a:t>
            </a:r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endParaRPr lang="en-US" sz="1800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r>
              <a:rPr lang="en-US" sz="18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</a:p>
          <a:p>
            <a:pPr marL="325755" lvl="1" indent="-162877" algn="l">
              <a:lnSpc>
                <a:spcPts val="2160"/>
              </a:lnSpc>
            </a:pPr>
            <a:endParaRPr lang="en-US" sz="1800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" y="228600"/>
            <a:ext cx="2851518" cy="6638627"/>
          </a:xfrm>
          <a:custGeom>
            <a:avLst/>
            <a:gdLst/>
            <a:ahLst/>
            <a:cxnLst/>
            <a:rect l="l" t="t" r="r" b="b"/>
            <a:pathLst>
              <a:path w="4277277" h="9957940">
                <a:moveTo>
                  <a:pt x="0" y="0"/>
                </a:moveTo>
                <a:lnTo>
                  <a:pt x="4277278" y="0"/>
                </a:lnTo>
                <a:lnTo>
                  <a:pt x="4277278" y="9957940"/>
                </a:lnTo>
                <a:lnTo>
                  <a:pt x="0" y="99579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7223" y="159"/>
            <a:ext cx="2356675" cy="6853098"/>
          </a:xfrm>
          <a:custGeom>
            <a:avLst/>
            <a:gdLst/>
            <a:ahLst/>
            <a:cxnLst/>
            <a:rect l="l" t="t" r="r" b="b"/>
            <a:pathLst>
              <a:path w="3535013" h="10279647">
                <a:moveTo>
                  <a:pt x="0" y="0"/>
                </a:moveTo>
                <a:lnTo>
                  <a:pt x="3535013" y="0"/>
                </a:lnTo>
                <a:lnTo>
                  <a:pt x="3535013" y="10279647"/>
                </a:lnTo>
                <a:lnTo>
                  <a:pt x="0" y="102796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0"/>
            <a:ext cx="182880" cy="6858000"/>
            <a:chOff x="0" y="0"/>
            <a:chExt cx="243840" cy="9144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" cy="9144000"/>
            </a:xfrm>
            <a:custGeom>
              <a:avLst/>
              <a:gdLst/>
              <a:ahLst/>
              <a:cxnLst/>
              <a:rect l="l" t="t" r="r" b="b"/>
              <a:pathLst>
                <a:path w="365760" h="1371600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5369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-4191" y="714375"/>
            <a:ext cx="1588529" cy="507295"/>
            <a:chOff x="0" y="0"/>
            <a:chExt cx="2118038" cy="6763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27483" cy="676402"/>
            </a:xfrm>
            <a:custGeom>
              <a:avLst/>
              <a:gdLst/>
              <a:ahLst/>
              <a:cxnLst/>
              <a:rect l="l" t="t" r="r" b="b"/>
              <a:pathLst>
                <a:path w="3191224" h="1014603">
                  <a:moveTo>
                    <a:pt x="3177032" y="537591"/>
                  </a:moveTo>
                  <a:lnTo>
                    <a:pt x="2719070" y="995553"/>
                  </a:lnTo>
                  <a:cubicBezTo>
                    <a:pt x="2716022" y="998855"/>
                    <a:pt x="2712212" y="1001903"/>
                    <a:pt x="2709164" y="1005078"/>
                  </a:cubicBezTo>
                  <a:cubicBezTo>
                    <a:pt x="2699893" y="1014603"/>
                    <a:pt x="2690241" y="1014603"/>
                    <a:pt x="2680589" y="1014603"/>
                  </a:cubicBezTo>
                  <a:lnTo>
                    <a:pt x="2499233" y="1014603"/>
                  </a:lnTo>
                  <a:lnTo>
                    <a:pt x="0" y="1007491"/>
                  </a:lnTo>
                  <a:cubicBezTo>
                    <a:pt x="2794" y="671703"/>
                    <a:pt x="5842" y="335788"/>
                    <a:pt x="8636" y="0"/>
                  </a:cubicBezTo>
                  <a:lnTo>
                    <a:pt x="2499233" y="3429"/>
                  </a:lnTo>
                  <a:lnTo>
                    <a:pt x="2680589" y="3429"/>
                  </a:lnTo>
                  <a:cubicBezTo>
                    <a:pt x="2690241" y="3429"/>
                    <a:pt x="2699766" y="12954"/>
                    <a:pt x="2709164" y="12954"/>
                  </a:cubicBezTo>
                  <a:cubicBezTo>
                    <a:pt x="2709164" y="22479"/>
                    <a:pt x="2719070" y="22479"/>
                    <a:pt x="2719070" y="22479"/>
                  </a:cubicBezTo>
                  <a:lnTo>
                    <a:pt x="3177032" y="480314"/>
                  </a:lnTo>
                  <a:cubicBezTo>
                    <a:pt x="3195955" y="499364"/>
                    <a:pt x="3195955" y="518414"/>
                    <a:pt x="3177032" y="537591"/>
                  </a:cubicBezTo>
                  <a:close/>
                </a:path>
              </a:pathLst>
            </a:custGeom>
            <a:solidFill>
              <a:srgbClr val="353535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2653887" y="641890"/>
            <a:ext cx="8789765" cy="1232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endParaRPr/>
          </a:p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53886" y="1725491"/>
            <a:ext cx="8793480" cy="3644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r>
              <a:rPr lang="en-US" sz="18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News Input and NLP Analysis </a:t>
            </a:r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endParaRPr lang="en-US" sz="1800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r>
              <a:rPr lang="en-US" sz="18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Credibility Assessment Module </a:t>
            </a:r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endParaRPr lang="en-US" sz="1800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r>
              <a:rPr lang="en-US" sz="18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Interface using React and TypeScript</a:t>
            </a:r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r>
              <a:rPr lang="en-US" sz="18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r>
              <a:rPr lang="en-US" sz="18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API using Node.js and Express.js</a:t>
            </a:r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r>
              <a:rPr lang="en-US" sz="18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388620" lvl="1" indent="-194310" algn="l">
              <a:lnSpc>
                <a:spcPts val="3240"/>
              </a:lnSpc>
              <a:buFont typeface="Arial"/>
              <a:buChar char="•"/>
            </a:pPr>
            <a:r>
              <a:rPr lang="en-US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MongoDB</a:t>
            </a:r>
            <a:r>
              <a:rPr lang="en-US" sz="18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storage with Redis caching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" y="228600"/>
            <a:ext cx="2851518" cy="6638627"/>
          </a:xfrm>
          <a:custGeom>
            <a:avLst/>
            <a:gdLst/>
            <a:ahLst/>
            <a:cxnLst/>
            <a:rect l="l" t="t" r="r" b="b"/>
            <a:pathLst>
              <a:path w="4277277" h="9957940">
                <a:moveTo>
                  <a:pt x="0" y="0"/>
                </a:moveTo>
                <a:lnTo>
                  <a:pt x="4277278" y="0"/>
                </a:lnTo>
                <a:lnTo>
                  <a:pt x="4277278" y="9957940"/>
                </a:lnTo>
                <a:lnTo>
                  <a:pt x="0" y="99579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7223" y="159"/>
            <a:ext cx="2356675" cy="6853098"/>
          </a:xfrm>
          <a:custGeom>
            <a:avLst/>
            <a:gdLst/>
            <a:ahLst/>
            <a:cxnLst/>
            <a:rect l="l" t="t" r="r" b="b"/>
            <a:pathLst>
              <a:path w="3535013" h="10279647">
                <a:moveTo>
                  <a:pt x="0" y="0"/>
                </a:moveTo>
                <a:lnTo>
                  <a:pt x="3535013" y="0"/>
                </a:lnTo>
                <a:lnTo>
                  <a:pt x="3535013" y="10279647"/>
                </a:lnTo>
                <a:lnTo>
                  <a:pt x="0" y="102796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0"/>
            <a:ext cx="182880" cy="6858000"/>
            <a:chOff x="0" y="0"/>
            <a:chExt cx="243840" cy="9144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" cy="9144000"/>
            </a:xfrm>
            <a:custGeom>
              <a:avLst/>
              <a:gdLst/>
              <a:ahLst/>
              <a:cxnLst/>
              <a:rect l="l" t="t" r="r" b="b"/>
              <a:pathLst>
                <a:path w="365760" h="1371600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5369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-4191" y="714375"/>
            <a:ext cx="1588529" cy="507295"/>
            <a:chOff x="0" y="0"/>
            <a:chExt cx="2118038" cy="6763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27483" cy="676402"/>
            </a:xfrm>
            <a:custGeom>
              <a:avLst/>
              <a:gdLst/>
              <a:ahLst/>
              <a:cxnLst/>
              <a:rect l="l" t="t" r="r" b="b"/>
              <a:pathLst>
                <a:path w="3191224" h="1014603">
                  <a:moveTo>
                    <a:pt x="3177032" y="537591"/>
                  </a:moveTo>
                  <a:lnTo>
                    <a:pt x="2719070" y="995553"/>
                  </a:lnTo>
                  <a:cubicBezTo>
                    <a:pt x="2716022" y="998855"/>
                    <a:pt x="2712212" y="1001903"/>
                    <a:pt x="2709164" y="1005078"/>
                  </a:cubicBezTo>
                  <a:cubicBezTo>
                    <a:pt x="2699893" y="1014603"/>
                    <a:pt x="2690241" y="1014603"/>
                    <a:pt x="2680589" y="1014603"/>
                  </a:cubicBezTo>
                  <a:lnTo>
                    <a:pt x="2499233" y="1014603"/>
                  </a:lnTo>
                  <a:lnTo>
                    <a:pt x="0" y="1007491"/>
                  </a:lnTo>
                  <a:cubicBezTo>
                    <a:pt x="2794" y="671703"/>
                    <a:pt x="5842" y="335788"/>
                    <a:pt x="8636" y="0"/>
                  </a:cubicBezTo>
                  <a:lnTo>
                    <a:pt x="2499233" y="3429"/>
                  </a:lnTo>
                  <a:lnTo>
                    <a:pt x="2680589" y="3429"/>
                  </a:lnTo>
                  <a:cubicBezTo>
                    <a:pt x="2690241" y="3429"/>
                    <a:pt x="2699766" y="12954"/>
                    <a:pt x="2709164" y="12954"/>
                  </a:cubicBezTo>
                  <a:cubicBezTo>
                    <a:pt x="2709164" y="22479"/>
                    <a:pt x="2719070" y="22479"/>
                    <a:pt x="2719070" y="22479"/>
                  </a:cubicBezTo>
                  <a:lnTo>
                    <a:pt x="3177032" y="480314"/>
                  </a:lnTo>
                  <a:cubicBezTo>
                    <a:pt x="3195955" y="499364"/>
                    <a:pt x="3195955" y="518414"/>
                    <a:pt x="3177032" y="537591"/>
                  </a:cubicBezTo>
                  <a:close/>
                </a:path>
              </a:pathLst>
            </a:custGeom>
            <a:solidFill>
              <a:srgbClr val="353535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2653887" y="641890"/>
            <a:ext cx="8789765" cy="1232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endParaRPr/>
          </a:p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90800" y="1874520"/>
            <a:ext cx="8793480" cy="3644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r>
              <a:rPr lang="en-US" sz="18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submitted news content using NLP techniques.</a:t>
            </a:r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endParaRPr lang="en-US" sz="1800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r>
              <a:rPr lang="en-US" sz="18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Assess credibility and present a clear credibility result.</a:t>
            </a:r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endParaRPr lang="en-US" sz="1800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r>
              <a:rPr lang="en-US" sz="18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 users identify potentially misleading information.</a:t>
            </a:r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endParaRPr lang="en-US" sz="1800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r>
              <a:rPr lang="en-US" sz="18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a React and TypeScript web interface for news input.</a:t>
            </a:r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endParaRPr lang="en-US" sz="1800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r>
              <a:rPr lang="en-US" sz="18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 Node.js and Express.js REST API backend.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" y="228600"/>
            <a:ext cx="2851518" cy="6638627"/>
          </a:xfrm>
          <a:custGeom>
            <a:avLst/>
            <a:gdLst/>
            <a:ahLst/>
            <a:cxnLst/>
            <a:rect l="l" t="t" r="r" b="b"/>
            <a:pathLst>
              <a:path w="4277277" h="9957940">
                <a:moveTo>
                  <a:pt x="0" y="0"/>
                </a:moveTo>
                <a:lnTo>
                  <a:pt x="4277278" y="0"/>
                </a:lnTo>
                <a:lnTo>
                  <a:pt x="4277278" y="9957940"/>
                </a:lnTo>
                <a:lnTo>
                  <a:pt x="0" y="99579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7223" y="159"/>
            <a:ext cx="2356675" cy="6853098"/>
          </a:xfrm>
          <a:custGeom>
            <a:avLst/>
            <a:gdLst/>
            <a:ahLst/>
            <a:cxnLst/>
            <a:rect l="l" t="t" r="r" b="b"/>
            <a:pathLst>
              <a:path w="3535013" h="10279647">
                <a:moveTo>
                  <a:pt x="0" y="0"/>
                </a:moveTo>
                <a:lnTo>
                  <a:pt x="3535013" y="0"/>
                </a:lnTo>
                <a:lnTo>
                  <a:pt x="3535013" y="10279647"/>
                </a:lnTo>
                <a:lnTo>
                  <a:pt x="0" y="102796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0"/>
            <a:ext cx="182880" cy="6858000"/>
            <a:chOff x="0" y="0"/>
            <a:chExt cx="243840" cy="9144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" cy="9144000"/>
            </a:xfrm>
            <a:custGeom>
              <a:avLst/>
              <a:gdLst/>
              <a:ahLst/>
              <a:cxnLst/>
              <a:rect l="l" t="t" r="r" b="b"/>
              <a:pathLst>
                <a:path w="365760" h="1371600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5369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-4191" y="714375"/>
            <a:ext cx="1588529" cy="507295"/>
            <a:chOff x="0" y="0"/>
            <a:chExt cx="2118038" cy="6763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27483" cy="676402"/>
            </a:xfrm>
            <a:custGeom>
              <a:avLst/>
              <a:gdLst/>
              <a:ahLst/>
              <a:cxnLst/>
              <a:rect l="l" t="t" r="r" b="b"/>
              <a:pathLst>
                <a:path w="3191224" h="1014603">
                  <a:moveTo>
                    <a:pt x="3177032" y="537591"/>
                  </a:moveTo>
                  <a:lnTo>
                    <a:pt x="2719070" y="995553"/>
                  </a:lnTo>
                  <a:cubicBezTo>
                    <a:pt x="2716022" y="998855"/>
                    <a:pt x="2712212" y="1001903"/>
                    <a:pt x="2709164" y="1005078"/>
                  </a:cubicBezTo>
                  <a:cubicBezTo>
                    <a:pt x="2699893" y="1014603"/>
                    <a:pt x="2690241" y="1014603"/>
                    <a:pt x="2680589" y="1014603"/>
                  </a:cubicBezTo>
                  <a:lnTo>
                    <a:pt x="2499233" y="1014603"/>
                  </a:lnTo>
                  <a:lnTo>
                    <a:pt x="0" y="1007491"/>
                  </a:lnTo>
                  <a:cubicBezTo>
                    <a:pt x="2794" y="671703"/>
                    <a:pt x="5842" y="335788"/>
                    <a:pt x="8636" y="0"/>
                  </a:cubicBezTo>
                  <a:lnTo>
                    <a:pt x="2499233" y="3429"/>
                  </a:lnTo>
                  <a:lnTo>
                    <a:pt x="2680589" y="3429"/>
                  </a:lnTo>
                  <a:cubicBezTo>
                    <a:pt x="2690241" y="3429"/>
                    <a:pt x="2699766" y="12954"/>
                    <a:pt x="2709164" y="12954"/>
                  </a:cubicBezTo>
                  <a:cubicBezTo>
                    <a:pt x="2709164" y="22479"/>
                    <a:pt x="2719070" y="22479"/>
                    <a:pt x="2719070" y="22479"/>
                  </a:cubicBezTo>
                  <a:lnTo>
                    <a:pt x="3177032" y="480314"/>
                  </a:lnTo>
                  <a:cubicBezTo>
                    <a:pt x="3195955" y="499364"/>
                    <a:pt x="3195955" y="518414"/>
                    <a:pt x="3177032" y="537591"/>
                  </a:cubicBezTo>
                  <a:close/>
                </a:path>
              </a:pathLst>
            </a:custGeom>
            <a:solidFill>
              <a:srgbClr val="353535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2653887" y="641890"/>
            <a:ext cx="8789765" cy="1232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endParaRPr/>
          </a:p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80850" y="1315122"/>
            <a:ext cx="8793480" cy="446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40"/>
              </a:lnSpc>
            </a:pPr>
            <a:endParaRPr dirty="0"/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r>
              <a:rPr lang="en-US" sz="18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who need a quick credibility check on news content.</a:t>
            </a:r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endParaRPr lang="en-US" sz="1800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r>
              <a:rPr lang="en-US" sz="18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Text-based news analysis using NLP techniques.</a:t>
            </a:r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endParaRPr lang="en-US" sz="1800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r>
              <a:rPr lang="en-US" sz="18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Web-based interface for news submission and results.</a:t>
            </a:r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endParaRPr lang="en-US" sz="1800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r>
              <a:rPr lang="en-US" sz="18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 API services with </a:t>
            </a:r>
            <a:r>
              <a:rPr lang="en-US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MongoDB</a:t>
            </a:r>
            <a:r>
              <a:rPr lang="en-US" sz="18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Redis.</a:t>
            </a:r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endParaRPr lang="en-US" sz="1800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25755" lvl="1" indent="-162877" algn="just">
              <a:lnSpc>
                <a:spcPts val="3240"/>
              </a:lnSpc>
              <a:buFont typeface="Arial"/>
              <a:buChar char="•"/>
            </a:pPr>
            <a:r>
              <a:rPr lang="en-US" sz="18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Non-text media such as images and video excluded.</a:t>
            </a:r>
          </a:p>
          <a:p>
            <a:pPr marL="325755" lvl="1" indent="-162877" algn="l">
              <a:lnSpc>
                <a:spcPts val="3240"/>
              </a:lnSpc>
            </a:pPr>
            <a:endParaRPr lang="en-US" sz="1800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" y="228600"/>
            <a:ext cx="2851518" cy="6638627"/>
          </a:xfrm>
          <a:custGeom>
            <a:avLst/>
            <a:gdLst/>
            <a:ahLst/>
            <a:cxnLst/>
            <a:rect l="l" t="t" r="r" b="b"/>
            <a:pathLst>
              <a:path w="4277277" h="9957940">
                <a:moveTo>
                  <a:pt x="0" y="0"/>
                </a:moveTo>
                <a:lnTo>
                  <a:pt x="4277278" y="0"/>
                </a:lnTo>
                <a:lnTo>
                  <a:pt x="4277278" y="9957940"/>
                </a:lnTo>
                <a:lnTo>
                  <a:pt x="0" y="99579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7223" y="159"/>
            <a:ext cx="2356675" cy="6853098"/>
          </a:xfrm>
          <a:custGeom>
            <a:avLst/>
            <a:gdLst/>
            <a:ahLst/>
            <a:cxnLst/>
            <a:rect l="l" t="t" r="r" b="b"/>
            <a:pathLst>
              <a:path w="3535013" h="10279647">
                <a:moveTo>
                  <a:pt x="0" y="0"/>
                </a:moveTo>
                <a:lnTo>
                  <a:pt x="3535013" y="0"/>
                </a:lnTo>
                <a:lnTo>
                  <a:pt x="3535013" y="10279647"/>
                </a:lnTo>
                <a:lnTo>
                  <a:pt x="0" y="102796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0"/>
            <a:ext cx="182880" cy="6858000"/>
            <a:chOff x="0" y="0"/>
            <a:chExt cx="243840" cy="9144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" cy="9144000"/>
            </a:xfrm>
            <a:custGeom>
              <a:avLst/>
              <a:gdLst/>
              <a:ahLst/>
              <a:cxnLst/>
              <a:rect l="l" t="t" r="r" b="b"/>
              <a:pathLst>
                <a:path w="365760" h="1371600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5369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-4191" y="714375"/>
            <a:ext cx="1588529" cy="507295"/>
            <a:chOff x="0" y="0"/>
            <a:chExt cx="2118038" cy="6763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27483" cy="676402"/>
            </a:xfrm>
            <a:custGeom>
              <a:avLst/>
              <a:gdLst/>
              <a:ahLst/>
              <a:cxnLst/>
              <a:rect l="l" t="t" r="r" b="b"/>
              <a:pathLst>
                <a:path w="3191224" h="1014603">
                  <a:moveTo>
                    <a:pt x="3177032" y="537591"/>
                  </a:moveTo>
                  <a:lnTo>
                    <a:pt x="2719070" y="995553"/>
                  </a:lnTo>
                  <a:cubicBezTo>
                    <a:pt x="2716022" y="998855"/>
                    <a:pt x="2712212" y="1001903"/>
                    <a:pt x="2709164" y="1005078"/>
                  </a:cubicBezTo>
                  <a:cubicBezTo>
                    <a:pt x="2699893" y="1014603"/>
                    <a:pt x="2690241" y="1014603"/>
                    <a:pt x="2680589" y="1014603"/>
                  </a:cubicBezTo>
                  <a:lnTo>
                    <a:pt x="2499233" y="1014603"/>
                  </a:lnTo>
                  <a:lnTo>
                    <a:pt x="0" y="1007491"/>
                  </a:lnTo>
                  <a:cubicBezTo>
                    <a:pt x="2794" y="671703"/>
                    <a:pt x="5842" y="335788"/>
                    <a:pt x="8636" y="0"/>
                  </a:cubicBezTo>
                  <a:lnTo>
                    <a:pt x="2499233" y="3429"/>
                  </a:lnTo>
                  <a:lnTo>
                    <a:pt x="2680589" y="3429"/>
                  </a:lnTo>
                  <a:cubicBezTo>
                    <a:pt x="2690241" y="3429"/>
                    <a:pt x="2699766" y="12954"/>
                    <a:pt x="2709164" y="12954"/>
                  </a:cubicBezTo>
                  <a:cubicBezTo>
                    <a:pt x="2709164" y="22479"/>
                    <a:pt x="2719070" y="22479"/>
                    <a:pt x="2719070" y="22479"/>
                  </a:cubicBezTo>
                  <a:lnTo>
                    <a:pt x="3177032" y="480314"/>
                  </a:lnTo>
                  <a:cubicBezTo>
                    <a:pt x="3195955" y="499364"/>
                    <a:pt x="3195955" y="518414"/>
                    <a:pt x="3177032" y="537591"/>
                  </a:cubicBezTo>
                  <a:close/>
                </a:path>
              </a:pathLst>
            </a:custGeom>
            <a:solidFill>
              <a:srgbClr val="353535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2653887" y="641890"/>
            <a:ext cx="8789765" cy="1232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endParaRPr/>
          </a:p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50173" y="2151380"/>
            <a:ext cx="8793480" cy="2240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5755" lvl="1" indent="-162877" algn="l">
              <a:lnSpc>
                <a:spcPts val="2160"/>
              </a:lnSpc>
              <a:buFont typeface="Arial"/>
              <a:buChar char="•"/>
            </a:pPr>
            <a:r>
              <a:rPr lang="en-US" sz="1800" b="1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Fake News Detection on Social Media: A Data Mining Perspective</a:t>
            </a:r>
            <a:r>
              <a:rPr lang="en-US" sz="18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Kai Shu et al. — ACM SIGKDD, 2017</a:t>
            </a:r>
          </a:p>
          <a:p>
            <a:pPr marL="325755" lvl="1" indent="-162877" algn="l">
              <a:lnSpc>
                <a:spcPts val="2160"/>
              </a:lnSpc>
              <a:buFont typeface="Arial"/>
              <a:buChar char="•"/>
            </a:pPr>
            <a:endParaRPr lang="en-US" sz="1800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25755" lvl="1" indent="-162877" algn="l">
              <a:lnSpc>
                <a:spcPts val="2160"/>
              </a:lnSpc>
              <a:buFont typeface="Arial"/>
              <a:buChar char="•"/>
            </a:pPr>
            <a:r>
              <a:rPr lang="en-US" sz="1800" b="1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“Liar, Liar Pants on Fire”: A New Benchmark Dataset for Fake News Detection</a:t>
            </a:r>
            <a:r>
              <a:rPr lang="en-US" sz="18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William Yang Wang — ACL, 2017</a:t>
            </a:r>
          </a:p>
          <a:p>
            <a:pPr marL="325755" lvl="1" indent="-162877" algn="l">
              <a:lnSpc>
                <a:spcPts val="2160"/>
              </a:lnSpc>
              <a:buFont typeface="Arial"/>
              <a:buChar char="•"/>
            </a:pPr>
            <a:endParaRPr lang="en-US" sz="1800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25755" lvl="1" indent="-162877" algn="l">
              <a:lnSpc>
                <a:spcPts val="2160"/>
              </a:lnSpc>
              <a:buFont typeface="Arial"/>
              <a:buChar char="•"/>
            </a:pPr>
            <a:r>
              <a:rPr lang="en-US" sz="1800" b="1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Detecting Fake News on Social Media</a:t>
            </a:r>
            <a:r>
              <a:rPr lang="en-US" sz="18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Kai Shu and Huan Liu — Springer, 2019</a:t>
            </a:r>
          </a:p>
          <a:p>
            <a:pPr marL="325755" lvl="1" indent="-162877" algn="l">
              <a:lnSpc>
                <a:spcPts val="2160"/>
              </a:lnSpc>
            </a:pPr>
            <a:r>
              <a:rPr lang="en-US" sz="18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" y="228600"/>
            <a:ext cx="2851518" cy="6638627"/>
          </a:xfrm>
          <a:custGeom>
            <a:avLst/>
            <a:gdLst/>
            <a:ahLst/>
            <a:cxnLst/>
            <a:rect l="l" t="t" r="r" b="b"/>
            <a:pathLst>
              <a:path w="4277277" h="9957940">
                <a:moveTo>
                  <a:pt x="0" y="0"/>
                </a:moveTo>
                <a:lnTo>
                  <a:pt x="4277278" y="0"/>
                </a:lnTo>
                <a:lnTo>
                  <a:pt x="4277278" y="9957940"/>
                </a:lnTo>
                <a:lnTo>
                  <a:pt x="0" y="99579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7223" y="159"/>
            <a:ext cx="2356675" cy="6853098"/>
          </a:xfrm>
          <a:custGeom>
            <a:avLst/>
            <a:gdLst/>
            <a:ahLst/>
            <a:cxnLst/>
            <a:rect l="l" t="t" r="r" b="b"/>
            <a:pathLst>
              <a:path w="3535013" h="10279647">
                <a:moveTo>
                  <a:pt x="0" y="0"/>
                </a:moveTo>
                <a:lnTo>
                  <a:pt x="3535013" y="0"/>
                </a:lnTo>
                <a:lnTo>
                  <a:pt x="3535013" y="10279647"/>
                </a:lnTo>
                <a:lnTo>
                  <a:pt x="0" y="102796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0"/>
            <a:ext cx="182880" cy="6858000"/>
            <a:chOff x="0" y="0"/>
            <a:chExt cx="243840" cy="9144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" cy="9144000"/>
            </a:xfrm>
            <a:custGeom>
              <a:avLst/>
              <a:gdLst/>
              <a:ahLst/>
              <a:cxnLst/>
              <a:rect l="l" t="t" r="r" b="b"/>
              <a:pathLst>
                <a:path w="365760" h="1371600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5369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-4191" y="714375"/>
            <a:ext cx="1588529" cy="507295"/>
            <a:chOff x="0" y="0"/>
            <a:chExt cx="2118038" cy="6763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27483" cy="676402"/>
            </a:xfrm>
            <a:custGeom>
              <a:avLst/>
              <a:gdLst/>
              <a:ahLst/>
              <a:cxnLst/>
              <a:rect l="l" t="t" r="r" b="b"/>
              <a:pathLst>
                <a:path w="3191224" h="1014603">
                  <a:moveTo>
                    <a:pt x="3177032" y="537591"/>
                  </a:moveTo>
                  <a:lnTo>
                    <a:pt x="2719070" y="995553"/>
                  </a:lnTo>
                  <a:cubicBezTo>
                    <a:pt x="2716022" y="998855"/>
                    <a:pt x="2712212" y="1001903"/>
                    <a:pt x="2709164" y="1005078"/>
                  </a:cubicBezTo>
                  <a:cubicBezTo>
                    <a:pt x="2699893" y="1014603"/>
                    <a:pt x="2690241" y="1014603"/>
                    <a:pt x="2680589" y="1014603"/>
                  </a:cubicBezTo>
                  <a:lnTo>
                    <a:pt x="2499233" y="1014603"/>
                  </a:lnTo>
                  <a:lnTo>
                    <a:pt x="0" y="1007491"/>
                  </a:lnTo>
                  <a:cubicBezTo>
                    <a:pt x="2794" y="671703"/>
                    <a:pt x="5842" y="335788"/>
                    <a:pt x="8636" y="0"/>
                  </a:cubicBezTo>
                  <a:lnTo>
                    <a:pt x="2499233" y="3429"/>
                  </a:lnTo>
                  <a:lnTo>
                    <a:pt x="2680589" y="3429"/>
                  </a:lnTo>
                  <a:cubicBezTo>
                    <a:pt x="2690241" y="3429"/>
                    <a:pt x="2699766" y="12954"/>
                    <a:pt x="2709164" y="12954"/>
                  </a:cubicBezTo>
                  <a:cubicBezTo>
                    <a:pt x="2709164" y="22479"/>
                    <a:pt x="2719070" y="22479"/>
                    <a:pt x="2719070" y="22479"/>
                  </a:cubicBezTo>
                  <a:lnTo>
                    <a:pt x="3177032" y="480314"/>
                  </a:lnTo>
                  <a:cubicBezTo>
                    <a:pt x="3195955" y="499364"/>
                    <a:pt x="3195955" y="518414"/>
                    <a:pt x="3177032" y="537591"/>
                  </a:cubicBezTo>
                  <a:close/>
                </a:path>
              </a:pathLst>
            </a:custGeom>
            <a:solidFill>
              <a:srgbClr val="353535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91840" y="1268730"/>
            <a:ext cx="5875020" cy="4857750"/>
            <a:chOff x="0" y="0"/>
            <a:chExt cx="7833360" cy="6477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833360" cy="6476999"/>
            </a:xfrm>
            <a:custGeom>
              <a:avLst/>
              <a:gdLst/>
              <a:ahLst/>
              <a:cxnLst/>
              <a:rect l="l" t="t" r="r" b="b"/>
              <a:pathLst>
                <a:path w="11750040" h="9715498">
                  <a:moveTo>
                    <a:pt x="0" y="0"/>
                  </a:moveTo>
                  <a:lnTo>
                    <a:pt x="11750040" y="0"/>
                  </a:lnTo>
                  <a:lnTo>
                    <a:pt x="11750040" y="9715498"/>
                  </a:lnTo>
                  <a:lnTo>
                    <a:pt x="0" y="971549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6087" r="-56087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25400"/>
              <a:ext cx="7833360" cy="6502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800" b="1" i="1">
                  <a:solidFill>
                    <a:srgbClr val="1F1F1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Thank You!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Times New Roman"/>
        <a:ea typeface="Times New Roman"/>
        <a:cs typeface="Times New Roman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Times New Roman"/>
        <a:ea typeface="Times New Roman"/>
        <a:cs typeface="Times New Roman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508</Words>
  <Application>Microsoft Office PowerPoint</Application>
  <PresentationFormat>Widescreen</PresentationFormat>
  <Paragraphs>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Zeroth_Review_PPT.pptx</dc:title>
  <dc:creator>jaagath ragavendraa</dc:creator>
  <cp:lastModifiedBy>jaagath ragavendraa</cp:lastModifiedBy>
  <cp:revision>2</cp:revision>
  <dcterms:created xsi:type="dcterms:W3CDTF">2006-08-16T00:00:00Z</dcterms:created>
  <dcterms:modified xsi:type="dcterms:W3CDTF">2026-09-17T10:15:11Z</dcterms:modified>
  <dc:identifier>DAHUftOFlKI</dc:identifier>
</cp:coreProperties>
</file>